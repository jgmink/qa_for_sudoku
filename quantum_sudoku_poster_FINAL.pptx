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8404800" cy="32918400"/>
  <p:notesSz cx="32918400" cy="3840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10" Type="http://schemas.openxmlformats.org/officeDocument/2006/relationships/image" Target="../media/image-1-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0" cy="4572000"/>
          </a:xfrm>
          <a:prstGeom prst="rect">
            <a:avLst/>
          </a:prstGeom>
          <a:solidFill>
            <a:srgbClr val="0A1635"/>
          </a:solidFill>
          <a:ln w="12700">
            <a:solidFill>
              <a:srgbClr val="0A16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38404800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3310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Quantum Annealing for Sudoku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310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QUBO Formulation of Sudoku as Graph Coloring — Benchmarked Against Classical Simulated Annealing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3310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Jonah Minkoff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236976"/>
            <a:ext cx="3310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 ·  Virginia Commonwealth University  ·  minkoffjg@vcu.edu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3878520" y="164592"/>
            <a:ext cx="4315968" cy="4242816"/>
          </a:xfrm>
          <a:prstGeom prst="rect">
            <a:avLst/>
          </a:prstGeom>
          <a:solidFill>
            <a:srgbClr val="07113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78520" y="201168"/>
            <a:ext cx="43159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VCU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33878520" y="2542032"/>
            <a:ext cx="4315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9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9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256032" y="4956048"/>
            <a:ext cx="1188720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4956048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5020056"/>
            <a:ext cx="1157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56032" y="5760720"/>
            <a:ext cx="11887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" y="6108192"/>
            <a:ext cx="1119225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 encodes constraint satisfaction structures in scheduling, logistics, and resource allocation — an ideal quantum benchmark.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 uses tunneling to escape local energy minima, potentially outperforming classical heuristics.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establish baselines for when quantum methods surpass classical on structured combinatorial problems.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256032" y="9144000"/>
            <a:ext cx="1188720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9144000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9208008"/>
            <a:ext cx="1157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 Puzzles Used in Experiments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256032" y="9948672"/>
            <a:ext cx="11887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40112"/>
            <a:ext cx="11704320" cy="43708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03504" y="14337792"/>
            <a:ext cx="11192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baseline (64 vars)  ·  9×9 Easy (459 free vars)  ·  9×9 Hard (576 free vars)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56032" y="15160752"/>
            <a:ext cx="1188720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15160752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" y="15224760"/>
            <a:ext cx="1157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256032" y="15965424"/>
            <a:ext cx="11887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03504" y="16148304"/>
            <a:ext cx="11192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Encoding: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03504" y="16660368"/>
            <a:ext cx="11192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x(i,j,k) = 1 if cell (i,j) holds digit k+1, else 0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03504" y="17209008"/>
            <a:ext cx="11192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Constraint Penalties: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603504" y="17739360"/>
            <a:ext cx="111922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  Cell  ·  E₂  Row  ·  E₃  Column  ·  E₄  Box</a:t>
            </a:r>
            <a:endParaRPr lang="en-US" sz="3200" dirty="0"/>
          </a:p>
        </p:txBody>
      </p:sp>
      <p:sp>
        <p:nvSpPr>
          <p:cNvPr id="30" name="Shape 27"/>
          <p:cNvSpPr/>
          <p:nvPr/>
        </p:nvSpPr>
        <p:spPr>
          <a:xfrm>
            <a:off x="603504" y="18781776"/>
            <a:ext cx="11192256" cy="749808"/>
          </a:xfrm>
          <a:prstGeom prst="rect">
            <a:avLst/>
          </a:prstGeom>
          <a:solidFill>
            <a:srgbClr val="E8F4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0664" y="18818352"/>
            <a:ext cx="11009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E_total = E₁+E₂+E₃+E₄ = 0   ⟺   Valid Sudoku</a:t>
            </a:r>
            <a:endParaRPr lang="en-US" sz="2600" dirty="0"/>
          </a:p>
        </p:txBody>
      </p:sp>
      <p:sp>
        <p:nvSpPr>
          <p:cNvPr id="32" name="Shape 29"/>
          <p:cNvSpPr/>
          <p:nvPr/>
        </p:nvSpPr>
        <p:spPr>
          <a:xfrm>
            <a:off x="256032" y="19988784"/>
            <a:ext cx="1188720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6032" y="19988784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2064" y="20052792"/>
            <a:ext cx="1157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Over Grid-Based Representation</a:t>
            </a:r>
            <a:endParaRPr lang="en-US" sz="2800" dirty="0"/>
          </a:p>
        </p:txBody>
      </p:sp>
      <p:sp>
        <p:nvSpPr>
          <p:cNvPr id="35" name="Shape 32"/>
          <p:cNvSpPr/>
          <p:nvPr/>
        </p:nvSpPr>
        <p:spPr>
          <a:xfrm>
            <a:off x="256032" y="20793456"/>
            <a:ext cx="11887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884896"/>
            <a:ext cx="11704320" cy="409651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03504" y="24908256"/>
            <a:ext cx="11192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9×9 Easy: 729 variables before (left) vs 459 after given-cell elimination (right). Dark = fixed, blue = free.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256032" y="25731216"/>
            <a:ext cx="1188720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56032" y="25731216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12064" y="25795224"/>
            <a:ext cx="1157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 Hardware</a:t>
            </a:r>
            <a:endParaRPr lang="en-US" sz="2800" dirty="0"/>
          </a:p>
        </p:txBody>
      </p:sp>
      <p:sp>
        <p:nvSpPr>
          <p:cNvPr id="41" name="Shape 37"/>
          <p:cNvSpPr/>
          <p:nvPr/>
        </p:nvSpPr>
        <p:spPr>
          <a:xfrm>
            <a:off x="256032" y="26535888"/>
            <a:ext cx="11887200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6627328"/>
            <a:ext cx="11704320" cy="6053328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12435840" y="4956048"/>
            <a:ext cx="1399032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2435840" y="4956048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2691872" y="5020056"/>
            <a:ext cx="1367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6" name="Shape 41"/>
          <p:cNvSpPr/>
          <p:nvPr/>
        </p:nvSpPr>
        <p:spPr>
          <a:xfrm>
            <a:off x="12435840" y="5760720"/>
            <a:ext cx="1399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Text 42"/>
          <p:cNvSpPr/>
          <p:nvPr/>
        </p:nvSpPr>
        <p:spPr>
          <a:xfrm>
            <a:off x="12783312" y="5980176"/>
            <a:ext cx="6473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Evaluated</a:t>
            </a:r>
            <a:endParaRPr lang="en-US" sz="2600" dirty="0"/>
          </a:p>
        </p:txBody>
      </p:sp>
      <p:sp>
        <p:nvSpPr>
          <p:cNvPr id="48" name="Text 43"/>
          <p:cNvSpPr/>
          <p:nvPr/>
        </p:nvSpPr>
        <p:spPr>
          <a:xfrm>
            <a:off x="12783312" y="6510528"/>
            <a:ext cx="6473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(D-Wave neal)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(Qiskit) — 2×2 only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Bifurcation — 4×4 only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QA.jl (Julia) — infeasible &gt;20 qubits</a:t>
            </a:r>
            <a:endParaRPr lang="en-US" sz="3200" dirty="0"/>
          </a:p>
        </p:txBody>
      </p:sp>
      <p:sp>
        <p:nvSpPr>
          <p:cNvPr id="49" name="Text 44"/>
          <p:cNvSpPr/>
          <p:nvPr/>
        </p:nvSpPr>
        <p:spPr>
          <a:xfrm>
            <a:off x="19604736" y="5980176"/>
            <a:ext cx="6473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2600" dirty="0"/>
          </a:p>
        </p:txBody>
      </p:sp>
      <p:sp>
        <p:nvSpPr>
          <p:cNvPr id="50" name="Text 45"/>
          <p:cNvSpPr/>
          <p:nvPr/>
        </p:nvSpPr>
        <p:spPr>
          <a:xfrm>
            <a:off x="19604736" y="6510528"/>
            <a:ext cx="6473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SA: 100 reads × 1000 sweeps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QAOA: p=2, 2048 shots, COBYLA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λ weights = 1.0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success rate, best energy</a:t>
            </a:r>
            <a:endParaRPr lang="en-US" sz="3200" dirty="0"/>
          </a:p>
        </p:txBody>
      </p:sp>
      <p:sp>
        <p:nvSpPr>
          <p:cNvPr id="51" name="Shape 46"/>
          <p:cNvSpPr/>
          <p:nvPr/>
        </p:nvSpPr>
        <p:spPr>
          <a:xfrm>
            <a:off x="19431000" y="6016752"/>
            <a:ext cx="18288" cy="3145536"/>
          </a:xfrm>
          <a:prstGeom prst="rect">
            <a:avLst/>
          </a:prstGeom>
          <a:solidFill>
            <a:srgbClr val="B8D0E8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2435840" y="9601200"/>
            <a:ext cx="1399032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2435840" y="9601200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12691872" y="9665208"/>
            <a:ext cx="1367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Sudoku Test Puzzles</a:t>
            </a:r>
            <a:endParaRPr lang="en-US" sz="2800" dirty="0"/>
          </a:p>
        </p:txBody>
      </p:sp>
      <p:sp>
        <p:nvSpPr>
          <p:cNvPr id="55" name="Shape 50"/>
          <p:cNvSpPr/>
          <p:nvPr/>
        </p:nvSpPr>
        <p:spPr>
          <a:xfrm>
            <a:off x="12435840" y="10405872"/>
            <a:ext cx="13990320" cy="129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0" y="10497312"/>
            <a:ext cx="13807440" cy="12344400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12783312" y="16898112"/>
            <a:ext cx="1329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pattern (left, 90.6% zeros) and coefficient values (right). Block structure encodes the four constraint types.</a:t>
            </a:r>
            <a:endParaRPr lang="en-US" sz="1800" dirty="0"/>
          </a:p>
        </p:txBody>
      </p:sp>
      <p:sp>
        <p:nvSpPr>
          <p:cNvPr id="58" name="Shape 52"/>
          <p:cNvSpPr/>
          <p:nvPr/>
        </p:nvSpPr>
        <p:spPr>
          <a:xfrm>
            <a:off x="12435840" y="17721072"/>
            <a:ext cx="1399032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12435840" y="17721072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12691872" y="22860000"/>
            <a:ext cx="1367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Matrix Structure</a:t>
            </a:r>
            <a:endParaRPr lang="en-US" sz="2800" dirty="0"/>
          </a:p>
        </p:txBody>
      </p:sp>
      <p:sp>
        <p:nvSpPr>
          <p:cNvPr id="61" name="Shape 55"/>
          <p:cNvSpPr/>
          <p:nvPr/>
        </p:nvSpPr>
        <p:spPr>
          <a:xfrm>
            <a:off x="12435840" y="18525744"/>
            <a:ext cx="139903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0" y="23225760"/>
            <a:ext cx="13807440" cy="9144000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12783312" y="24743664"/>
            <a:ext cx="1329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 variable density increase (64→459 vars) collapses success from 99% to 0%.</a:t>
            </a:r>
            <a:endParaRPr lang="en-US" sz="1800" dirty="0"/>
          </a:p>
        </p:txBody>
      </p:sp>
      <p:sp>
        <p:nvSpPr>
          <p:cNvPr id="64" name="Shape 57"/>
          <p:cNvSpPr/>
          <p:nvPr/>
        </p:nvSpPr>
        <p:spPr>
          <a:xfrm>
            <a:off x="12435840" y="25566624"/>
            <a:ext cx="1399032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12435840" y="25566624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12691872" y="25630632"/>
            <a:ext cx="1367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 Hybrid Solver vs. Simulated Annealing</a:t>
            </a:r>
            <a:endParaRPr lang="en-US" sz="2800" dirty="0"/>
          </a:p>
        </p:txBody>
      </p:sp>
      <p:sp>
        <p:nvSpPr>
          <p:cNvPr id="67" name="Shape 60"/>
          <p:cNvSpPr/>
          <p:nvPr/>
        </p:nvSpPr>
        <p:spPr>
          <a:xfrm>
            <a:off x="12435840" y="26371296"/>
            <a:ext cx="13990320" cy="638251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83312" y="26627328"/>
          <a:ext cx="13295376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34440"/>
                <a:gridCol w="1554480"/>
                <a:gridCol w="1508760"/>
                <a:gridCol w="1783080"/>
                <a:gridCol w="1463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Puzzle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(30 clues)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 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D4F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(25 clues)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✗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✗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D4F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(17 clues)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✗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✗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✗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D4F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Shape 61"/>
          <p:cNvSpPr/>
          <p:nvPr/>
        </p:nvSpPr>
        <p:spPr>
          <a:xfrm>
            <a:off x="12783312" y="29827728"/>
            <a:ext cx="13295376" cy="2761488"/>
          </a:xfrm>
          <a:prstGeom prst="rect">
            <a:avLst/>
          </a:prstGeom>
          <a:solidFill>
            <a:srgbClr val="E8F8EE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12947904" y="29937456"/>
            <a:ext cx="1307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Quantum Tunneling Advantage Demonstrated</a:t>
            </a:r>
            <a:endParaRPr lang="en-US" sz="2600" dirty="0"/>
          </a:p>
        </p:txBody>
      </p:sp>
      <p:sp>
        <p:nvSpPr>
          <p:cNvPr id="71" name="Text 63"/>
          <p:cNvSpPr/>
          <p:nvPr/>
        </p:nvSpPr>
        <p:spPr>
          <a:xfrm>
            <a:off x="12947904" y="30504384"/>
            <a:ext cx="130759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solver succeeded on Medium where all 100 SA runs failed — tunneling past classical local minima.</a:t>
            </a:r>
            <a:endParaRPr lang="en-US" sz="2200" dirty="0"/>
          </a:p>
        </p:txBody>
      </p:sp>
      <p:sp>
        <p:nvSpPr>
          <p:cNvPr id="72" name="Shape 64"/>
          <p:cNvSpPr/>
          <p:nvPr/>
        </p:nvSpPr>
        <p:spPr>
          <a:xfrm>
            <a:off x="26700480" y="4956048"/>
            <a:ext cx="1147572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26700480" y="4956048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26956512" y="5020056"/>
            <a:ext cx="11164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Encoding</a:t>
            </a:r>
            <a:endParaRPr lang="en-US" sz="2800" dirty="0"/>
          </a:p>
        </p:txBody>
      </p:sp>
      <p:sp>
        <p:nvSpPr>
          <p:cNvPr id="75" name="Shape 67"/>
          <p:cNvSpPr/>
          <p:nvPr/>
        </p:nvSpPr>
        <p:spPr>
          <a:xfrm>
            <a:off x="26700480" y="5760720"/>
            <a:ext cx="114757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pic>
        <p:nvPicPr>
          <p:cNvPr id="7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1920" y="5852160"/>
            <a:ext cx="11292840" cy="6693408"/>
          </a:xfrm>
          <a:prstGeom prst="rect">
            <a:avLst/>
          </a:prstGeom>
        </p:spPr>
      </p:pic>
      <p:sp>
        <p:nvSpPr>
          <p:cNvPr id="77" name="Shape 68"/>
          <p:cNvSpPr/>
          <p:nvPr/>
        </p:nvSpPr>
        <p:spPr>
          <a:xfrm>
            <a:off x="26700480" y="12801600"/>
            <a:ext cx="1147572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26700480" y="12801600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9" name="Text 70"/>
          <p:cNvSpPr/>
          <p:nvPr/>
        </p:nvSpPr>
        <p:spPr>
          <a:xfrm>
            <a:off x="26956512" y="12865608"/>
            <a:ext cx="11164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 vs. SA — Results</a:t>
            </a:r>
            <a:endParaRPr lang="en-US" sz="2800" dirty="0"/>
          </a:p>
        </p:txBody>
      </p:sp>
      <p:sp>
        <p:nvSpPr>
          <p:cNvPr id="80" name="Shape 71"/>
          <p:cNvSpPr/>
          <p:nvPr/>
        </p:nvSpPr>
        <p:spPr>
          <a:xfrm>
            <a:off x="26700480" y="13606272"/>
            <a:ext cx="11475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1" name="Text 72"/>
          <p:cNvSpPr/>
          <p:nvPr/>
        </p:nvSpPr>
        <p:spPr>
          <a:xfrm>
            <a:off x="27047952" y="13953744"/>
            <a:ext cx="1078077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Sudoku (8 qubits): energy 4.0, but post-processing recovered a valid solution.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impossible: 2⁶⁴ states ≈ 148 exabytes of RAM.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noise and exponential state space block practical scaling.</a:t>
            </a:r>
            <a:endParaRPr lang="en-US" sz="3200" dirty="0"/>
          </a:p>
        </p:txBody>
      </p:sp>
      <p:sp>
        <p:nvSpPr>
          <p:cNvPr id="82" name="Shape 73"/>
          <p:cNvSpPr/>
          <p:nvPr/>
        </p:nvSpPr>
        <p:spPr>
          <a:xfrm>
            <a:off x="26700480" y="16898112"/>
            <a:ext cx="1147572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3" name="Shape 74"/>
          <p:cNvSpPr/>
          <p:nvPr/>
        </p:nvSpPr>
        <p:spPr>
          <a:xfrm>
            <a:off x="26700480" y="16898112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4" name="Text 75"/>
          <p:cNvSpPr/>
          <p:nvPr/>
        </p:nvSpPr>
        <p:spPr>
          <a:xfrm>
            <a:off x="26956512" y="16962120"/>
            <a:ext cx="11164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Quantum Annealing Fits</a:t>
            </a:r>
            <a:endParaRPr lang="en-US" sz="2800" dirty="0"/>
          </a:p>
        </p:txBody>
      </p:sp>
      <p:sp>
        <p:nvSpPr>
          <p:cNvPr id="85" name="Shape 76"/>
          <p:cNvSpPr/>
          <p:nvPr/>
        </p:nvSpPr>
        <p:spPr>
          <a:xfrm>
            <a:off x="26700480" y="17702784"/>
            <a:ext cx="11475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6" name="Text 77"/>
          <p:cNvSpPr/>
          <p:nvPr/>
        </p:nvSpPr>
        <p:spPr>
          <a:xfrm>
            <a:off x="27047952" y="18050256"/>
            <a:ext cx="1078077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 natively solves QUBOs — 5,000+ qubits, no circuit depth limits.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 QUBOs are 84–97% sparse — favorable for hardware embedding.</a:t>
            </a:r>
            <a:endParaRPr lang="en-US" sz="3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3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solver pairs classical preprocessing with quantum tunneling.</a:t>
            </a:r>
            <a:endParaRPr lang="en-US" sz="3200" dirty="0"/>
          </a:p>
        </p:txBody>
      </p:sp>
      <p:sp>
        <p:nvSpPr>
          <p:cNvPr id="87" name="Shape 78"/>
          <p:cNvSpPr/>
          <p:nvPr/>
        </p:nvSpPr>
        <p:spPr>
          <a:xfrm>
            <a:off x="26700480" y="21177504"/>
            <a:ext cx="1147572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8" name="Shape 79"/>
          <p:cNvSpPr/>
          <p:nvPr/>
        </p:nvSpPr>
        <p:spPr>
          <a:xfrm>
            <a:off x="26700480" y="21177504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9" name="Text 80"/>
          <p:cNvSpPr/>
          <p:nvPr/>
        </p:nvSpPr>
        <p:spPr>
          <a:xfrm>
            <a:off x="26956512" y="21241512"/>
            <a:ext cx="11164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90" name="Shape 81"/>
          <p:cNvSpPr/>
          <p:nvPr/>
        </p:nvSpPr>
        <p:spPr>
          <a:xfrm>
            <a:off x="26700480" y="21982176"/>
            <a:ext cx="1147572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1" name="Shape 82"/>
          <p:cNvSpPr/>
          <p:nvPr/>
        </p:nvSpPr>
        <p:spPr>
          <a:xfrm>
            <a:off x="27047952" y="22366224"/>
            <a:ext cx="502920" cy="502920"/>
          </a:xfrm>
          <a:prstGeom prst="rect">
            <a:avLst/>
          </a:prstGeom>
          <a:solidFill>
            <a:srgbClr val="E8F8EE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92" name="Text 83"/>
          <p:cNvSpPr/>
          <p:nvPr/>
        </p:nvSpPr>
        <p:spPr>
          <a:xfrm>
            <a:off x="27047952" y="22366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93" name="Text 84"/>
          <p:cNvSpPr/>
          <p:nvPr/>
        </p:nvSpPr>
        <p:spPr>
          <a:xfrm>
            <a:off x="27806904" y="22055328"/>
            <a:ext cx="10021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correctly encodes all constraints — E=0 ↔ valid solution.</a:t>
            </a:r>
            <a:endParaRPr lang="en-US" sz="2800" dirty="0"/>
          </a:p>
        </p:txBody>
      </p:sp>
      <p:sp>
        <p:nvSpPr>
          <p:cNvPr id="94" name="Shape 85"/>
          <p:cNvSpPr/>
          <p:nvPr/>
        </p:nvSpPr>
        <p:spPr>
          <a:xfrm>
            <a:off x="27047952" y="23527512"/>
            <a:ext cx="502920" cy="502920"/>
          </a:xfrm>
          <a:prstGeom prst="rect">
            <a:avLst/>
          </a:prstGeom>
          <a:solidFill>
            <a:srgbClr val="E8F8EE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95" name="Text 86"/>
          <p:cNvSpPr/>
          <p:nvPr/>
        </p:nvSpPr>
        <p:spPr>
          <a:xfrm>
            <a:off x="27047952" y="23527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96" name="Text 87"/>
          <p:cNvSpPr/>
          <p:nvPr/>
        </p:nvSpPr>
        <p:spPr>
          <a:xfrm>
            <a:off x="27806904" y="23216616"/>
            <a:ext cx="10021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SA: 99% on 4×4, but 6% / 0% / 0% on 9×9 easy / medium / hard.</a:t>
            </a:r>
            <a:endParaRPr lang="en-US" sz="2800" dirty="0"/>
          </a:p>
        </p:txBody>
      </p:sp>
      <p:sp>
        <p:nvSpPr>
          <p:cNvPr id="97" name="Shape 88"/>
          <p:cNvSpPr/>
          <p:nvPr/>
        </p:nvSpPr>
        <p:spPr>
          <a:xfrm>
            <a:off x="27047952" y="24688800"/>
            <a:ext cx="502920" cy="502920"/>
          </a:xfrm>
          <a:prstGeom prst="rect">
            <a:avLst/>
          </a:prstGeom>
          <a:solidFill>
            <a:srgbClr val="E8F8EE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98" name="Text 89"/>
          <p:cNvSpPr/>
          <p:nvPr/>
        </p:nvSpPr>
        <p:spPr>
          <a:xfrm>
            <a:off x="27047952" y="2468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99" name="Text 90"/>
          <p:cNvSpPr/>
          <p:nvPr/>
        </p:nvSpPr>
        <p:spPr>
          <a:xfrm>
            <a:off x="27806904" y="24377904"/>
            <a:ext cx="10021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 hybrid solved 2/3 puzzles vs SA's 1/3 — quantum advantage on medium.</a:t>
            </a:r>
            <a:endParaRPr lang="en-US" sz="2800" dirty="0"/>
          </a:p>
        </p:txBody>
      </p:sp>
      <p:sp>
        <p:nvSpPr>
          <p:cNvPr id="100" name="Shape 91"/>
          <p:cNvSpPr/>
          <p:nvPr/>
        </p:nvSpPr>
        <p:spPr>
          <a:xfrm>
            <a:off x="27047952" y="25850088"/>
            <a:ext cx="502920" cy="5029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1" name="Text 92"/>
          <p:cNvSpPr/>
          <p:nvPr/>
        </p:nvSpPr>
        <p:spPr>
          <a:xfrm>
            <a:off x="27047952" y="2585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600" dirty="0"/>
          </a:p>
        </p:txBody>
      </p:sp>
      <p:sp>
        <p:nvSpPr>
          <p:cNvPr id="102" name="Text 93"/>
          <p:cNvSpPr/>
          <p:nvPr/>
        </p:nvSpPr>
        <p:spPr>
          <a:xfrm>
            <a:off x="27806904" y="25539192"/>
            <a:ext cx="10021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solvers failed on 17-clue Sudoku — hardest instances remain open.</a:t>
            </a:r>
            <a:endParaRPr lang="en-US" sz="2800" dirty="0"/>
          </a:p>
        </p:txBody>
      </p:sp>
      <p:sp>
        <p:nvSpPr>
          <p:cNvPr id="103" name="Shape 94"/>
          <p:cNvSpPr/>
          <p:nvPr/>
        </p:nvSpPr>
        <p:spPr>
          <a:xfrm>
            <a:off x="27047952" y="27011376"/>
            <a:ext cx="502920" cy="502920"/>
          </a:xfrm>
          <a:prstGeom prst="rect">
            <a:avLst/>
          </a:prstGeom>
          <a:solidFill>
            <a:srgbClr val="FEF6E4"/>
          </a:solidFill>
          <a:ln w="12700">
            <a:solidFill>
              <a:srgbClr val="B07A00"/>
            </a:solidFill>
            <a:prstDash val="solid"/>
          </a:ln>
        </p:spPr>
      </p:sp>
      <p:sp>
        <p:nvSpPr>
          <p:cNvPr id="104" name="Text 95"/>
          <p:cNvSpPr/>
          <p:nvPr/>
        </p:nvSpPr>
        <p:spPr>
          <a:xfrm>
            <a:off x="27047952" y="2701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5" name="Text 96"/>
          <p:cNvSpPr/>
          <p:nvPr/>
        </p:nvSpPr>
        <p:spPr>
          <a:xfrm>
            <a:off x="27806904" y="26700480"/>
            <a:ext cx="10021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D-Wave Advantage QPU, penalty tuning, domain-wall encoding.</a:t>
            </a:r>
            <a:endParaRPr lang="en-US" sz="2800" dirty="0"/>
          </a:p>
        </p:txBody>
      </p:sp>
      <p:sp>
        <p:nvSpPr>
          <p:cNvPr id="106" name="Shape 97"/>
          <p:cNvSpPr/>
          <p:nvPr/>
        </p:nvSpPr>
        <p:spPr>
          <a:xfrm>
            <a:off x="26700480" y="28108656"/>
            <a:ext cx="11475720" cy="8046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7" name="Shape 98"/>
          <p:cNvSpPr/>
          <p:nvPr/>
        </p:nvSpPr>
        <p:spPr>
          <a:xfrm>
            <a:off x="26700480" y="28108656"/>
            <a:ext cx="14630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8" name="Text 99"/>
          <p:cNvSpPr/>
          <p:nvPr/>
        </p:nvSpPr>
        <p:spPr>
          <a:xfrm>
            <a:off x="34290000" y="279349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109" name="Shape 100"/>
          <p:cNvSpPr/>
          <p:nvPr/>
        </p:nvSpPr>
        <p:spPr>
          <a:xfrm>
            <a:off x="26700480" y="28913328"/>
            <a:ext cx="11475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pic>
        <p:nvPicPr>
          <p:cNvPr id="11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0" y="29077920"/>
            <a:ext cx="3520440" cy="3520440"/>
          </a:xfrm>
          <a:prstGeom prst="rect">
            <a:avLst/>
          </a:prstGeom>
        </p:spPr>
      </p:pic>
      <p:sp>
        <p:nvSpPr>
          <p:cNvPr id="111" name="Text 101"/>
          <p:cNvSpPr/>
          <p:nvPr/>
        </p:nvSpPr>
        <p:spPr>
          <a:xfrm>
            <a:off x="27047952" y="29077920"/>
            <a:ext cx="731520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20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17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17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17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17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17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17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17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17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pPr indent="0" marL="0">
              <a:buNone/>
            </a:pPr>
            <a:r>
              <a:rPr lang="en-US" sz="17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</p:txBody>
      </p:sp>
      <p:pic>
        <p:nvPicPr>
          <p:cNvPr id="112" name="Image rId10" descr="preencoded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6791920" y="13807440"/>
            <a:ext cx="11292840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2026-03-22T23:50:10Z</dcterms:created>
  <dcterms:modified xsi:type="dcterms:W3CDTF">2026-03-22T23:50:10Z</dcterms:modified>
</cp:coreProperties>
</file>