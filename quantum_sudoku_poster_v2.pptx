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38404800" cy="32918400"/>
  <p:notesSz cx="32918400" cy="384048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F5FA"/>
        </a:solidFill>
      </p:bgPr>
    </p:bg>
    <p:spTree>
      <p:nvGrpSpPr>
        <p:cNvPr id="1" name=""/>
        <p:cNvGrpSpPr/>
        <p:nvPr/>
      </p:nvGrpSpPr>
      <p:grpSpPr>
        <a:xfrm>
          <a:off x="0" y="0"/>
          <a:ext cx="0" cy="0"/>
          <a:chOff x="0" y="0"/>
          <a:chExt cx="0" cy="0"/>
        </a:xfrm>
      </p:grpSpPr>
      <p:sp>
        <p:nvSpPr>
          <p:cNvPr id="2" name="Shape 0"/>
          <p:cNvSpPr/>
          <p:nvPr/>
        </p:nvSpPr>
        <p:spPr>
          <a:xfrm>
            <a:off x="0" y="0"/>
            <a:ext cx="38404800" cy="3840480"/>
          </a:xfrm>
          <a:prstGeom prst="rect">
            <a:avLst/>
          </a:prstGeom>
          <a:solidFill>
            <a:srgbClr val="0A1635"/>
          </a:solidFill>
          <a:ln w="12700">
            <a:solidFill>
              <a:srgbClr val="0A1635"/>
            </a:solidFill>
            <a:prstDash val="solid"/>
          </a:ln>
        </p:spPr>
      </p:sp>
      <p:sp>
        <p:nvSpPr>
          <p:cNvPr id="3" name="Shape 1"/>
          <p:cNvSpPr/>
          <p:nvPr/>
        </p:nvSpPr>
        <p:spPr>
          <a:xfrm>
            <a:off x="0" y="0"/>
            <a:ext cx="347472" cy="3840480"/>
          </a:xfrm>
          <a:prstGeom prst="rect">
            <a:avLst/>
          </a:prstGeom>
          <a:solidFill>
            <a:srgbClr val="00B4D8"/>
          </a:solidFill>
          <a:ln w="12700">
            <a:solidFill>
              <a:srgbClr val="00B4D8"/>
            </a:solidFill>
            <a:prstDash val="solid"/>
          </a:ln>
        </p:spPr>
      </p:sp>
      <p:sp>
        <p:nvSpPr>
          <p:cNvPr id="4" name="Text 2"/>
          <p:cNvSpPr/>
          <p:nvPr/>
        </p:nvSpPr>
        <p:spPr>
          <a:xfrm>
            <a:off x="640080" y="201168"/>
            <a:ext cx="29260800" cy="1325880"/>
          </a:xfrm>
          <a:prstGeom prst="rect">
            <a:avLst/>
          </a:prstGeom>
          <a:noFill/>
          <a:ln/>
        </p:spPr>
        <p:txBody>
          <a:bodyPr wrap="square" lIns="0" tIns="0" rIns="0" bIns="0" rtlCol="0" anchor="ctr"/>
          <a:lstStyle/>
          <a:p>
            <a:pPr algn="l" indent="0" marL="0">
              <a:buNone/>
            </a:pPr>
            <a:r>
              <a:rPr lang="en-US" sz="9600" b="1" dirty="0">
                <a:solidFill>
                  <a:srgbClr val="FFFFFF"/>
                </a:solidFill>
                <a:latin typeface="Calibri" pitchFamily="34" charset="0"/>
                <a:ea typeface="Calibri" pitchFamily="34" charset="-122"/>
                <a:cs typeface="Calibri" pitchFamily="34" charset="-120"/>
              </a:rPr>
              <a:t>Grid-Based Quantum Annealing for Sudoku</a:t>
            </a:r>
            <a:endParaRPr lang="en-US" sz="9600" dirty="0"/>
          </a:p>
        </p:txBody>
      </p:sp>
      <p:sp>
        <p:nvSpPr>
          <p:cNvPr id="5" name="Text 3"/>
          <p:cNvSpPr/>
          <p:nvPr/>
        </p:nvSpPr>
        <p:spPr>
          <a:xfrm>
            <a:off x="640080" y="1627632"/>
            <a:ext cx="29260800" cy="658368"/>
          </a:xfrm>
          <a:prstGeom prst="rect">
            <a:avLst/>
          </a:prstGeom>
          <a:noFill/>
          <a:ln/>
        </p:spPr>
        <p:txBody>
          <a:bodyPr wrap="square" lIns="0" tIns="0" rIns="0" bIns="0" rtlCol="0" anchor="ctr"/>
          <a:lstStyle/>
          <a:p>
            <a:pPr algn="l" indent="0" marL="0">
              <a:buNone/>
            </a:pPr>
            <a:r>
              <a:rPr lang="en-US" sz="3000" dirty="0">
                <a:solidFill>
                  <a:srgbClr val="00B4D8"/>
                </a:solidFill>
                <a:latin typeface="Calibri" pitchFamily="34" charset="0"/>
                <a:ea typeface="Calibri" pitchFamily="34" charset="-122"/>
                <a:cs typeface="Calibri" pitchFamily="34" charset="-120"/>
              </a:rPr>
              <a:t>A QUBO Formulation of Sudoku as Graph Coloring  •  Benchmarked Against Classical Simulated Annealing  •  D-Wave Advantage2 QPU Validation</a:t>
            </a:r>
            <a:endParaRPr lang="en-US" sz="3000" dirty="0"/>
          </a:p>
        </p:txBody>
      </p:sp>
      <p:sp>
        <p:nvSpPr>
          <p:cNvPr id="6" name="Text 4"/>
          <p:cNvSpPr/>
          <p:nvPr/>
        </p:nvSpPr>
        <p:spPr>
          <a:xfrm>
            <a:off x="640080" y="2377440"/>
            <a:ext cx="27432000" cy="548640"/>
          </a:xfrm>
          <a:prstGeom prst="rect">
            <a:avLst/>
          </a:prstGeom>
          <a:noFill/>
          <a:ln/>
        </p:spPr>
        <p:txBody>
          <a:bodyPr wrap="square" lIns="0" tIns="0" rIns="0" bIns="0" rtlCol="0" anchor="ctr"/>
          <a:lstStyle/>
          <a:p>
            <a:pPr algn="l" indent="0" marL="0">
              <a:buNone/>
            </a:pPr>
            <a:r>
              <a:rPr lang="en-US" sz="3600" b="1" dirty="0">
                <a:solidFill>
                  <a:srgbClr val="FFFFFF"/>
                </a:solidFill>
                <a:latin typeface="Calibri" pitchFamily="34" charset="0"/>
                <a:ea typeface="Calibri" pitchFamily="34" charset="-122"/>
                <a:cs typeface="Calibri" pitchFamily="34" charset="-120"/>
              </a:rPr>
              <a:t>Jonah Minkoff</a:t>
            </a:r>
            <a:endParaRPr lang="en-US" sz="3600" dirty="0"/>
          </a:p>
        </p:txBody>
      </p:sp>
      <p:sp>
        <p:nvSpPr>
          <p:cNvPr id="7" name="Text 5"/>
          <p:cNvSpPr/>
          <p:nvPr/>
        </p:nvSpPr>
        <p:spPr>
          <a:xfrm>
            <a:off x="640080" y="3017520"/>
            <a:ext cx="29260800" cy="502920"/>
          </a:xfrm>
          <a:prstGeom prst="rect">
            <a:avLst/>
          </a:prstGeom>
          <a:noFill/>
          <a:ln/>
        </p:spPr>
        <p:txBody>
          <a:bodyPr wrap="square" lIns="0" tIns="0" rIns="0" bIns="0" rtlCol="0" anchor="ctr"/>
          <a:lstStyle/>
          <a:p>
            <a:pPr algn="l" indent="0" marL="0">
              <a:buNone/>
            </a:pPr>
            <a:r>
              <a:rPr lang="en-US" sz="2600" dirty="0">
                <a:solidFill>
                  <a:srgbClr val="9BBDD6"/>
                </a:solidFill>
                <a:latin typeface="Calibri" pitchFamily="34" charset="0"/>
                <a:ea typeface="Calibri" pitchFamily="34" charset="-122"/>
                <a:cs typeface="Calibri" pitchFamily="34" charset="-120"/>
              </a:rPr>
              <a:t>Dept. of Computer Science  ·  Virginia Commonwealth University  ·  minkoffjg@vcu.edu</a:t>
            </a:r>
            <a:endParaRPr lang="en-US" sz="2600" dirty="0"/>
          </a:p>
        </p:txBody>
      </p:sp>
      <p:sp>
        <p:nvSpPr>
          <p:cNvPr id="8" name="Shape 6"/>
          <p:cNvSpPr/>
          <p:nvPr/>
        </p:nvSpPr>
        <p:spPr>
          <a:xfrm>
            <a:off x="31089600" y="320040"/>
            <a:ext cx="6858000" cy="3200400"/>
          </a:xfrm>
          <a:prstGeom prst="rect">
            <a:avLst/>
          </a:prstGeom>
          <a:solidFill>
            <a:srgbClr val="0D1B4B"/>
          </a:solidFill>
          <a:ln w="38100">
            <a:solidFill>
              <a:srgbClr val="00B4D8"/>
            </a:solidFill>
            <a:prstDash val="solid"/>
          </a:ln>
        </p:spPr>
      </p:sp>
      <p:sp>
        <p:nvSpPr>
          <p:cNvPr id="9" name="Text 7"/>
          <p:cNvSpPr/>
          <p:nvPr/>
        </p:nvSpPr>
        <p:spPr>
          <a:xfrm>
            <a:off x="31089600" y="502920"/>
            <a:ext cx="6858000" cy="1371600"/>
          </a:xfrm>
          <a:prstGeom prst="rect">
            <a:avLst/>
          </a:prstGeom>
          <a:noFill/>
          <a:ln/>
        </p:spPr>
        <p:txBody>
          <a:bodyPr wrap="square" lIns="0" tIns="0" rIns="0" bIns="0" rtlCol="0" anchor="ctr"/>
          <a:lstStyle/>
          <a:p>
            <a:pPr algn="ctr" indent="0" marL="0">
              <a:buNone/>
            </a:pPr>
            <a:r>
              <a:rPr lang="en-US" sz="8800" b="1" dirty="0">
                <a:solidFill>
                  <a:srgbClr val="FFFFFF"/>
                </a:solidFill>
                <a:latin typeface="Calibri" pitchFamily="34" charset="0"/>
                <a:ea typeface="Calibri" pitchFamily="34" charset="-122"/>
                <a:cs typeface="Calibri" pitchFamily="34" charset="-120"/>
              </a:rPr>
              <a:t>VCU</a:t>
            </a:r>
            <a:endParaRPr lang="en-US" sz="8800" dirty="0"/>
          </a:p>
        </p:txBody>
      </p:sp>
      <p:sp>
        <p:nvSpPr>
          <p:cNvPr id="10" name="Text 8"/>
          <p:cNvSpPr/>
          <p:nvPr/>
        </p:nvSpPr>
        <p:spPr>
          <a:xfrm>
            <a:off x="31089600" y="1920240"/>
            <a:ext cx="6858000" cy="502920"/>
          </a:xfrm>
          <a:prstGeom prst="rect">
            <a:avLst/>
          </a:prstGeom>
          <a:noFill/>
          <a:ln/>
        </p:spPr>
        <p:txBody>
          <a:bodyPr wrap="square" lIns="0" tIns="0" rIns="0" bIns="0" rtlCol="0" anchor="ctr"/>
          <a:lstStyle/>
          <a:p>
            <a:pPr algn="ctr" indent="0" marL="0">
              <a:buNone/>
            </a:pPr>
            <a:r>
              <a:rPr lang="en-US" sz="2200" b="1" spc="200" kern="0" dirty="0">
                <a:solidFill>
                  <a:srgbClr val="00B4D8"/>
                </a:solidFill>
              </a:rPr>
              <a:t>COMPUTER SCIENCE</a:t>
            </a:r>
            <a:endParaRPr lang="en-US" sz="2200" dirty="0"/>
          </a:p>
        </p:txBody>
      </p:sp>
      <p:sp>
        <p:nvSpPr>
          <p:cNvPr id="11" name="Text 9"/>
          <p:cNvSpPr/>
          <p:nvPr/>
        </p:nvSpPr>
        <p:spPr>
          <a:xfrm>
            <a:off x="31089600" y="2487168"/>
            <a:ext cx="6858000" cy="411480"/>
          </a:xfrm>
          <a:prstGeom prst="rect">
            <a:avLst/>
          </a:prstGeom>
          <a:noFill/>
          <a:ln/>
        </p:spPr>
        <p:txBody>
          <a:bodyPr wrap="square" lIns="0" tIns="0" rIns="0" bIns="0" rtlCol="0" anchor="ctr"/>
          <a:lstStyle/>
          <a:p>
            <a:pPr algn="ctr" indent="0" marL="0">
              <a:buNone/>
            </a:pPr>
            <a:r>
              <a:rPr lang="en-US" sz="1900" dirty="0">
                <a:solidFill>
                  <a:srgbClr val="9BBDD6"/>
                </a:solidFill>
              </a:rPr>
              <a:t>Virginia Commonwealth University</a:t>
            </a:r>
            <a:endParaRPr lang="en-US" sz="1900" dirty="0"/>
          </a:p>
        </p:txBody>
      </p:sp>
      <p:sp>
        <p:nvSpPr>
          <p:cNvPr id="12" name="Shape 10"/>
          <p:cNvSpPr/>
          <p:nvPr/>
        </p:nvSpPr>
        <p:spPr>
          <a:xfrm>
            <a:off x="0" y="3840480"/>
            <a:ext cx="38404800" cy="137160"/>
          </a:xfrm>
          <a:prstGeom prst="rect">
            <a:avLst/>
          </a:prstGeom>
          <a:solidFill>
            <a:srgbClr val="00B4D8"/>
          </a:solidFill>
          <a:ln w="12700">
            <a:solidFill>
              <a:srgbClr val="00B4D8"/>
            </a:solidFill>
            <a:prstDash val="solid"/>
          </a:ln>
        </p:spPr>
      </p:sp>
      <p:sp>
        <p:nvSpPr>
          <p:cNvPr id="13" name="Shape 11"/>
          <p:cNvSpPr/>
          <p:nvPr/>
        </p:nvSpPr>
        <p:spPr>
          <a:xfrm>
            <a:off x="548640" y="4206240"/>
            <a:ext cx="11887200" cy="9144000"/>
          </a:xfrm>
          <a:prstGeom prst="rect">
            <a:avLst/>
          </a:prstGeom>
          <a:solidFill>
            <a:srgbClr val="E8F4FA"/>
          </a:solidFill>
          <a:ln w="19050">
            <a:solidFill>
              <a:srgbClr val="B8D0E8"/>
            </a:solidFill>
            <a:prstDash val="solid"/>
          </a:ln>
        </p:spPr>
      </p:sp>
      <p:sp>
        <p:nvSpPr>
          <p:cNvPr id="14" name="Shape 12"/>
          <p:cNvSpPr/>
          <p:nvPr/>
        </p:nvSpPr>
        <p:spPr>
          <a:xfrm>
            <a:off x="548640" y="4206240"/>
            <a:ext cx="11887200" cy="566928"/>
          </a:xfrm>
          <a:prstGeom prst="rect">
            <a:avLst/>
          </a:prstGeom>
          <a:solidFill>
            <a:srgbClr val="0077A8"/>
          </a:solidFill>
          <a:ln w="12700">
            <a:solidFill>
              <a:srgbClr val="0077A8"/>
            </a:solidFill>
            <a:prstDash val="solid"/>
          </a:ln>
        </p:spPr>
      </p:sp>
      <p:sp>
        <p:nvSpPr>
          <p:cNvPr id="15" name="Text 13"/>
          <p:cNvSpPr/>
          <p:nvPr/>
        </p:nvSpPr>
        <p:spPr>
          <a:xfrm>
            <a:off x="713232" y="4206240"/>
            <a:ext cx="11704320" cy="566928"/>
          </a:xfrm>
          <a:prstGeom prst="rect">
            <a:avLst/>
          </a:prstGeom>
          <a:noFill/>
          <a:ln/>
        </p:spPr>
        <p:txBody>
          <a:bodyPr wrap="square" lIns="0" tIns="0" rIns="0" bIns="0" rtlCol="0" anchor="ctr"/>
          <a:lstStyle/>
          <a:p>
            <a:pPr algn="l" indent="0" marL="0">
              <a:buNone/>
            </a:pPr>
            <a:r>
              <a:rPr lang="en-US" sz="2600" b="1" spc="200" kern="0" dirty="0">
                <a:solidFill>
                  <a:srgbClr val="FFFFFF"/>
                </a:solidFill>
              </a:rPr>
              <a:t>INTRODUCTION &amp; MOTIVATION</a:t>
            </a:r>
            <a:endParaRPr lang="en-US" sz="2600" dirty="0"/>
          </a:p>
        </p:txBody>
      </p:sp>
      <p:sp>
        <p:nvSpPr>
          <p:cNvPr id="16" name="Text 14"/>
          <p:cNvSpPr/>
          <p:nvPr/>
        </p:nvSpPr>
        <p:spPr>
          <a:xfrm>
            <a:off x="731520" y="4864608"/>
            <a:ext cx="11567160" cy="8394192"/>
          </a:xfrm>
          <a:prstGeom prst="rect">
            <a:avLst/>
          </a:prstGeom>
          <a:noFill/>
          <a:ln/>
        </p:spPr>
        <p:txBody>
          <a:bodyPr wrap="square" rtlCol="0" anchor="t"/>
          <a:lstStyle/>
          <a:p>
            <a:pPr algn="l" indent="0" marL="0">
              <a:buNone/>
            </a:pPr>
            <a:r>
              <a:rPr lang="en-US" sz="2500" b="1" dirty="0">
                <a:solidFill>
                  <a:srgbClr val="000000"/>
                </a:solidFill>
              </a:rPr>
              <a:t>What is Sudoku?
</a:t>
            </a:r>
            <a:endParaRPr lang="en-US" sz="2500" dirty="0"/>
          </a:p>
          <a:p>
            <a:pPr algn="l" indent="0" marL="0">
              <a:buNone/>
            </a:pPr>
            <a:r>
              <a:rPr lang="en-US" sz="2300" dirty="0">
                <a:solidFill>
                  <a:srgbClr val="000000"/>
                </a:solidFill>
              </a:rPr>
              <a:t>Sudoku is a constraint satisfaction problem (CSP) modeled as graph coloring on an N×N grid: each cell receives exactly one digit 1–N such that no digit repeats in any row, column, or √N×√N box. It encodes the same constraint structure found in scheduling, resource allocation, and combinatorial optimization.
</a:t>
            </a:r>
            <a:endParaRPr lang="en-US" sz="2500" dirty="0"/>
          </a:p>
          <a:p>
            <a:pPr algn="l" indent="0" marL="0">
              <a:buNone/>
            </a:pPr>
            <a:r>
              <a:rPr lang="en-US" sz="2500" b="1" dirty="0">
                <a:solidFill>
                  <a:srgbClr val="000000"/>
                </a:solidFill>
              </a:rPr>
              <a:t>
Why Quantum Annealing?
</a:t>
            </a:r>
            <a:endParaRPr lang="en-US" sz="2500" dirty="0"/>
          </a:p>
          <a:p>
            <a:pPr algn="l" indent="0" marL="0">
              <a:buNone/>
            </a:pPr>
            <a:r>
              <a:rPr lang="en-US" sz="2300" dirty="0">
                <a:solidFill>
                  <a:srgbClr val="000000"/>
                </a:solidFill>
              </a:rPr>
              <a:t>Classical solvers (backtracking, constraint propagation, dancing links) solve 9×9 in milliseconds but scale poorly as constraints densify. Quantum annealing leverages quantum tunneling to escape local energy minima — ideal for constraint-heavy landscapes where classical methods get trapped.
</a:t>
            </a:r>
            <a:endParaRPr lang="en-US" sz="2500" dirty="0"/>
          </a:p>
          <a:p>
            <a:pPr algn="l" indent="0" marL="0">
              <a:buNone/>
            </a:pPr>
            <a:r>
              <a:rPr lang="en-US" sz="2500" b="1" dirty="0">
                <a:solidFill>
                  <a:srgbClr val="000000"/>
                </a:solidFill>
              </a:rPr>
              <a:t>
Goal
</a:t>
            </a:r>
            <a:endParaRPr lang="en-US" sz="2500" dirty="0"/>
          </a:p>
          <a:p>
            <a:pPr algn="l" indent="0" marL="0">
              <a:buNone/>
            </a:pPr>
            <a:r>
              <a:rPr lang="en-US" sz="2300" dirty="0">
                <a:solidFill>
                  <a:srgbClr val="000000"/>
                </a:solidFill>
              </a:rPr>
              <a:t>Derive a QUBO formulation for Sudoku from first principles, validate correctness via simulated annealing, then test on D-Wave’s Leap Hybrid BQM Solver and Advantage2 QPU. Benchmark scalability from 4×4 to 9×9, comparing quantum and classical methods on success rate and energy.
</a:t>
            </a:r>
            <a:endParaRPr lang="en-US" sz="2500" dirty="0"/>
          </a:p>
          <a:p>
            <a:pPr algn="l" indent="0" marL="0">
              <a:buNone/>
            </a:pPr>
            <a:r>
              <a:rPr lang="en-US" sz="2500" b="1" dirty="0">
                <a:solidFill>
                  <a:srgbClr val="000000"/>
                </a:solidFill>
              </a:rPr>
              <a:t>
Hardware Platform
</a:t>
            </a:r>
            <a:endParaRPr lang="en-US" sz="2500" dirty="0"/>
          </a:p>
          <a:p>
            <a:pPr algn="l" indent="0" marL="0">
              <a:buNone/>
            </a:pPr>
            <a:r>
              <a:rPr lang="en-US" sz="2300" dirty="0">
                <a:solidFill>
                  <a:srgbClr val="000000"/>
                </a:solidFill>
              </a:rPr>
              <a:t>D-Wave Advantage2: 5,000+ superconducting qubits on Pegasus P16 topology. QUBO variables are mapped to physical qubits via minor embedding, with coupled qubit chains representing binary decisions. QPU experiments use 1,000 reads at 200 μs anneal time with forward annealing.</a:t>
            </a:r>
            <a:endParaRPr lang="en-US" sz="2500" dirty="0"/>
          </a:p>
        </p:txBody>
      </p:sp>
      <p:sp>
        <p:nvSpPr>
          <p:cNvPr id="17" name="Shape 15"/>
          <p:cNvSpPr/>
          <p:nvPr/>
        </p:nvSpPr>
        <p:spPr>
          <a:xfrm>
            <a:off x="548640" y="13533120"/>
            <a:ext cx="11887200" cy="10287000"/>
          </a:xfrm>
          <a:prstGeom prst="rect">
            <a:avLst/>
          </a:prstGeom>
          <a:solidFill>
            <a:srgbClr val="FFFFFF"/>
          </a:solidFill>
          <a:ln w="19050">
            <a:solidFill>
              <a:srgbClr val="B8D0E8"/>
            </a:solidFill>
            <a:prstDash val="solid"/>
          </a:ln>
        </p:spPr>
      </p:sp>
      <p:sp>
        <p:nvSpPr>
          <p:cNvPr id="18" name="Shape 16"/>
          <p:cNvSpPr/>
          <p:nvPr/>
        </p:nvSpPr>
        <p:spPr>
          <a:xfrm>
            <a:off x="548640" y="13533120"/>
            <a:ext cx="11887200" cy="566928"/>
          </a:xfrm>
          <a:prstGeom prst="rect">
            <a:avLst/>
          </a:prstGeom>
          <a:solidFill>
            <a:srgbClr val="3D4F60"/>
          </a:solidFill>
          <a:ln w="12700">
            <a:solidFill>
              <a:srgbClr val="3D4F60"/>
            </a:solidFill>
            <a:prstDash val="solid"/>
          </a:ln>
        </p:spPr>
      </p:sp>
      <p:sp>
        <p:nvSpPr>
          <p:cNvPr id="19" name="Text 17"/>
          <p:cNvSpPr/>
          <p:nvPr/>
        </p:nvSpPr>
        <p:spPr>
          <a:xfrm>
            <a:off x="713232" y="13533120"/>
            <a:ext cx="11704320" cy="566928"/>
          </a:xfrm>
          <a:prstGeom prst="rect">
            <a:avLst/>
          </a:prstGeom>
          <a:noFill/>
          <a:ln/>
        </p:spPr>
        <p:txBody>
          <a:bodyPr wrap="square" lIns="0" tIns="0" rIns="0" bIns="0" rtlCol="0" anchor="ctr"/>
          <a:lstStyle/>
          <a:p>
            <a:pPr algn="l" indent="0" marL="0">
              <a:buNone/>
            </a:pPr>
            <a:r>
              <a:rPr lang="en-US" sz="2600" b="1" spc="200" kern="0" dirty="0">
                <a:solidFill>
                  <a:srgbClr val="FFFFFF"/>
                </a:solidFill>
              </a:rPr>
              <a:t>QUBO FORMULATION</a:t>
            </a:r>
            <a:endParaRPr lang="en-US" sz="2600" dirty="0"/>
          </a:p>
        </p:txBody>
      </p:sp>
      <p:sp>
        <p:nvSpPr>
          <p:cNvPr id="20" name="Shape 18"/>
          <p:cNvSpPr/>
          <p:nvPr/>
        </p:nvSpPr>
        <p:spPr>
          <a:xfrm>
            <a:off x="731520" y="14282928"/>
            <a:ext cx="11521440" cy="1188720"/>
          </a:xfrm>
          <a:prstGeom prst="rect">
            <a:avLst/>
          </a:prstGeom>
          <a:solidFill>
            <a:srgbClr val="E8F4FA"/>
          </a:solidFill>
          <a:ln w="31750">
            <a:solidFill>
              <a:srgbClr val="00B4D8"/>
            </a:solidFill>
            <a:prstDash val="solid"/>
          </a:ln>
        </p:spPr>
      </p:sp>
      <p:sp>
        <p:nvSpPr>
          <p:cNvPr id="21" name="Text 19"/>
          <p:cNvSpPr/>
          <p:nvPr/>
        </p:nvSpPr>
        <p:spPr>
          <a:xfrm>
            <a:off x="822960" y="14374368"/>
            <a:ext cx="11338560" cy="548640"/>
          </a:xfrm>
          <a:prstGeom prst="rect">
            <a:avLst/>
          </a:prstGeom>
          <a:noFill/>
          <a:ln/>
        </p:spPr>
        <p:txBody>
          <a:bodyPr wrap="square" lIns="0" tIns="0" rIns="0" bIns="0" rtlCol="0" anchor="ctr"/>
          <a:lstStyle/>
          <a:p>
            <a:pPr algn="l" indent="0" marL="0">
              <a:buNone/>
            </a:pPr>
            <a:r>
              <a:rPr lang="en-US" sz="2500" b="1" dirty="0">
                <a:solidFill>
                  <a:srgbClr val="000000"/>
                </a:solidFill>
              </a:rPr>
              <a:t>Binary Variable: </a:t>
            </a:r>
            <a:pPr algn="l" indent="0" marL="0">
              <a:buNone/>
            </a:pPr>
            <a:r>
              <a:rPr lang="en-US" sz="2500" dirty="0">
                <a:solidFill>
                  <a:srgbClr val="000000"/>
                </a:solidFill>
              </a:rPr>
              <a:t>x</a:t>
            </a:r>
            <a:pPr algn="l" indent="0" marL="0">
              <a:buNone/>
            </a:pPr>
            <a:r>
              <a:rPr lang="en-US" sz="1900" baseline="-500" dirty="0">
                <a:solidFill>
                  <a:srgbClr val="000000"/>
                </a:solidFill>
              </a:rPr>
              <a:t>i,j,k</a:t>
            </a:r>
            <a:pPr algn="l" indent="0" marL="0">
              <a:buNone/>
            </a:pPr>
            <a:r>
              <a:rPr lang="en-US" sz="2500" dirty="0">
                <a:solidFill>
                  <a:srgbClr val="000000"/>
                </a:solidFill>
              </a:rPr>
              <a:t> = 1  if cell (i,j) holds digit k+1,  else 0</a:t>
            </a:r>
            <a:endParaRPr lang="en-US" sz="2500" dirty="0"/>
          </a:p>
        </p:txBody>
      </p:sp>
      <p:sp>
        <p:nvSpPr>
          <p:cNvPr id="22" name="Text 20"/>
          <p:cNvSpPr/>
          <p:nvPr/>
        </p:nvSpPr>
        <p:spPr>
          <a:xfrm>
            <a:off x="822960" y="14950440"/>
            <a:ext cx="11338560" cy="384048"/>
          </a:xfrm>
          <a:prstGeom prst="rect">
            <a:avLst/>
          </a:prstGeom>
          <a:noFill/>
          <a:ln/>
        </p:spPr>
        <p:txBody>
          <a:bodyPr wrap="square" lIns="0" tIns="0" rIns="0" bIns="0" rtlCol="0" anchor="ctr"/>
          <a:lstStyle/>
          <a:p>
            <a:pPr algn="l" indent="0" marL="0">
              <a:buNone/>
            </a:pPr>
            <a:r>
              <a:rPr lang="en-US" sz="2000" i="1" dirty="0">
                <a:solidFill>
                  <a:srgbClr val="3D4F60"/>
                </a:solidFill>
              </a:rPr>
              <a:t>4×4: 64 vars  |  9×9: 729 vars  |  9×9 with 30 givens: 459 free vars  (37% reduction via given-cell elimination)</a:t>
            </a:r>
            <a:endParaRPr lang="en-US" sz="2000" dirty="0"/>
          </a:p>
        </p:txBody>
      </p:sp>
      <p:sp>
        <p:nvSpPr>
          <p:cNvPr id="23" name="Text 21"/>
          <p:cNvSpPr/>
          <p:nvPr/>
        </p:nvSpPr>
        <p:spPr>
          <a:xfrm>
            <a:off x="731520" y="15636240"/>
            <a:ext cx="11521440" cy="438912"/>
          </a:xfrm>
          <a:prstGeom prst="rect">
            <a:avLst/>
          </a:prstGeom>
          <a:noFill/>
          <a:ln/>
        </p:spPr>
        <p:txBody>
          <a:bodyPr wrap="square" lIns="0" tIns="0" rIns="0" bIns="0" rtlCol="0" anchor="ctr"/>
          <a:lstStyle/>
          <a:p>
            <a:pPr indent="0" marL="0">
              <a:buNone/>
            </a:pPr>
            <a:r>
              <a:rPr lang="en-US" sz="2500" b="1" dirty="0">
                <a:solidFill>
                  <a:srgbClr val="1A202C"/>
                </a:solidFill>
              </a:rPr>
              <a:t>Energy Function  —  minimize to solve:</a:t>
            </a:r>
            <a:endParaRPr lang="en-US" sz="2500" dirty="0"/>
          </a:p>
        </p:txBody>
      </p:sp>
      <p:sp>
        <p:nvSpPr>
          <p:cNvPr id="24" name="Text 22"/>
          <p:cNvSpPr/>
          <p:nvPr/>
        </p:nvSpPr>
        <p:spPr>
          <a:xfrm>
            <a:off x="731520" y="16139160"/>
            <a:ext cx="11521440" cy="594360"/>
          </a:xfrm>
          <a:prstGeom prst="rect">
            <a:avLst/>
          </a:prstGeom>
          <a:noFill/>
          <a:ln/>
        </p:spPr>
        <p:txBody>
          <a:bodyPr wrap="square" lIns="0" tIns="0" rIns="0" bIns="0" rtlCol="0" anchor="ctr"/>
          <a:lstStyle/>
          <a:p>
            <a:pPr algn="ctr" indent="0" marL="0">
              <a:buNone/>
            </a:pPr>
            <a:r>
              <a:rPr lang="en-US" sz="3100" b="1" dirty="0">
                <a:solidFill>
                  <a:srgbClr val="0077A8"/>
                </a:solidFill>
                <a:latin typeface="Calibri" pitchFamily="34" charset="0"/>
                <a:ea typeface="Calibri" pitchFamily="34" charset="-122"/>
                <a:cs typeface="Calibri" pitchFamily="34" charset="-120"/>
              </a:rPr>
              <a:t>Eₜₒₜₐₗ = E₁ + E₂ + E₃ + E₄ = 0  ⇒  Valid Sudoku</a:t>
            </a:r>
            <a:endParaRPr lang="en-US" sz="3100" dirty="0"/>
          </a:p>
        </p:txBody>
      </p:sp>
      <p:sp>
        <p:nvSpPr>
          <p:cNvPr id="25" name="Shape 23"/>
          <p:cNvSpPr/>
          <p:nvPr/>
        </p:nvSpPr>
        <p:spPr>
          <a:xfrm>
            <a:off x="731520" y="16898112"/>
            <a:ext cx="2468880" cy="1207008"/>
          </a:xfrm>
          <a:prstGeom prst="rect">
            <a:avLst/>
          </a:prstGeom>
          <a:solidFill>
            <a:srgbClr val="0D1B4B"/>
          </a:solidFill>
          <a:ln w="12700">
            <a:solidFill>
              <a:srgbClr val="0D1B4B"/>
            </a:solidFill>
            <a:prstDash val="solid"/>
          </a:ln>
        </p:spPr>
      </p:sp>
      <p:sp>
        <p:nvSpPr>
          <p:cNvPr id="26" name="Text 24"/>
          <p:cNvSpPr/>
          <p:nvPr/>
        </p:nvSpPr>
        <p:spPr>
          <a:xfrm>
            <a:off x="731520" y="16898112"/>
            <a:ext cx="2468880" cy="1207008"/>
          </a:xfrm>
          <a:prstGeom prst="rect">
            <a:avLst/>
          </a:prstGeom>
          <a:noFill/>
          <a:ln/>
        </p:spPr>
        <p:txBody>
          <a:bodyPr wrap="square" lIns="0" tIns="0" rIns="0" bIns="0" rtlCol="0" anchor="ctr"/>
          <a:lstStyle/>
          <a:p>
            <a:pPr algn="ctr" indent="0" marL="0">
              <a:buNone/>
            </a:pPr>
            <a:r>
              <a:rPr lang="en-US" sz="2200" b="1" dirty="0">
                <a:solidFill>
                  <a:srgbClr val="FFFFFF"/>
                </a:solidFill>
              </a:rPr>
              <a:t>E₁  Cell</a:t>
            </a:r>
            <a:endParaRPr lang="en-US" sz="2200" dirty="0"/>
          </a:p>
        </p:txBody>
      </p:sp>
      <p:sp>
        <p:nvSpPr>
          <p:cNvPr id="27" name="Shape 25"/>
          <p:cNvSpPr/>
          <p:nvPr/>
        </p:nvSpPr>
        <p:spPr>
          <a:xfrm>
            <a:off x="3218688" y="16898112"/>
            <a:ext cx="9034272" cy="1207008"/>
          </a:xfrm>
          <a:prstGeom prst="rect">
            <a:avLst/>
          </a:prstGeom>
          <a:solidFill>
            <a:srgbClr val="E8F4FA"/>
          </a:solidFill>
          <a:ln w="12700">
            <a:solidFill>
              <a:srgbClr val="B8D0E8"/>
            </a:solidFill>
            <a:prstDash val="solid"/>
          </a:ln>
        </p:spPr>
      </p:sp>
      <p:sp>
        <p:nvSpPr>
          <p:cNvPr id="28" name="Text 26"/>
          <p:cNvSpPr/>
          <p:nvPr/>
        </p:nvSpPr>
        <p:spPr>
          <a:xfrm>
            <a:off x="3383280" y="16898112"/>
            <a:ext cx="8851392" cy="1207008"/>
          </a:xfrm>
          <a:prstGeom prst="rect">
            <a:avLst/>
          </a:prstGeom>
          <a:noFill/>
          <a:ln/>
        </p:spPr>
        <p:txBody>
          <a:bodyPr wrap="square" lIns="0" tIns="0" rIns="0" bIns="0" rtlCol="0" anchor="ctr"/>
          <a:lstStyle/>
          <a:p>
            <a:pPr algn="l" indent="0" marL="0">
              <a:buNone/>
            </a:pPr>
            <a:r>
              <a:rPr lang="en-US" sz="2200" b="1" dirty="0">
                <a:solidFill>
                  <a:srgbClr val="000000"/>
                </a:solidFill>
              </a:rPr>
              <a:t>Σᵢⱼ (Σₖ xᵢⱼₖ − 1)²
</a:t>
            </a:r>
            <a:endParaRPr lang="en-US" sz="2200" dirty="0"/>
          </a:p>
          <a:p>
            <a:pPr algn="l" indent="0" marL="0">
              <a:buNone/>
            </a:pPr>
            <a:r>
              <a:rPr lang="en-US" sz="2000" i="1" dirty="0">
                <a:solidFill>
                  <a:srgbClr val="3D4F60"/>
                </a:solidFill>
              </a:rPr>
              <a:t>each cell has exactly one digit</a:t>
            </a:r>
            <a:endParaRPr lang="en-US" sz="2200" dirty="0"/>
          </a:p>
        </p:txBody>
      </p:sp>
      <p:sp>
        <p:nvSpPr>
          <p:cNvPr id="29" name="Shape 27"/>
          <p:cNvSpPr/>
          <p:nvPr/>
        </p:nvSpPr>
        <p:spPr>
          <a:xfrm>
            <a:off x="731520" y="18223992"/>
            <a:ext cx="2468880" cy="1207008"/>
          </a:xfrm>
          <a:prstGeom prst="rect">
            <a:avLst/>
          </a:prstGeom>
          <a:solidFill>
            <a:srgbClr val="0D1B4B"/>
          </a:solidFill>
          <a:ln w="12700">
            <a:solidFill>
              <a:srgbClr val="0D1B4B"/>
            </a:solidFill>
            <a:prstDash val="solid"/>
          </a:ln>
        </p:spPr>
      </p:sp>
      <p:sp>
        <p:nvSpPr>
          <p:cNvPr id="30" name="Text 28"/>
          <p:cNvSpPr/>
          <p:nvPr/>
        </p:nvSpPr>
        <p:spPr>
          <a:xfrm>
            <a:off x="731520" y="18223992"/>
            <a:ext cx="2468880" cy="1207008"/>
          </a:xfrm>
          <a:prstGeom prst="rect">
            <a:avLst/>
          </a:prstGeom>
          <a:noFill/>
          <a:ln/>
        </p:spPr>
        <p:txBody>
          <a:bodyPr wrap="square" lIns="0" tIns="0" rIns="0" bIns="0" rtlCol="0" anchor="ctr"/>
          <a:lstStyle/>
          <a:p>
            <a:pPr algn="ctr" indent="0" marL="0">
              <a:buNone/>
            </a:pPr>
            <a:r>
              <a:rPr lang="en-US" sz="2200" b="1" dirty="0">
                <a:solidFill>
                  <a:srgbClr val="FFFFFF"/>
                </a:solidFill>
              </a:rPr>
              <a:t>E₂  Row</a:t>
            </a:r>
            <a:endParaRPr lang="en-US" sz="2200" dirty="0"/>
          </a:p>
        </p:txBody>
      </p:sp>
      <p:sp>
        <p:nvSpPr>
          <p:cNvPr id="31" name="Shape 29"/>
          <p:cNvSpPr/>
          <p:nvPr/>
        </p:nvSpPr>
        <p:spPr>
          <a:xfrm>
            <a:off x="3218688" y="18223992"/>
            <a:ext cx="9034272" cy="1207008"/>
          </a:xfrm>
          <a:prstGeom prst="rect">
            <a:avLst/>
          </a:prstGeom>
          <a:solidFill>
            <a:srgbClr val="E8F4FA"/>
          </a:solidFill>
          <a:ln w="12700">
            <a:solidFill>
              <a:srgbClr val="B8D0E8"/>
            </a:solidFill>
            <a:prstDash val="solid"/>
          </a:ln>
        </p:spPr>
      </p:sp>
      <p:sp>
        <p:nvSpPr>
          <p:cNvPr id="32" name="Text 30"/>
          <p:cNvSpPr/>
          <p:nvPr/>
        </p:nvSpPr>
        <p:spPr>
          <a:xfrm>
            <a:off x="3383280" y="18223992"/>
            <a:ext cx="8851392" cy="1207008"/>
          </a:xfrm>
          <a:prstGeom prst="rect">
            <a:avLst/>
          </a:prstGeom>
          <a:noFill/>
          <a:ln/>
        </p:spPr>
        <p:txBody>
          <a:bodyPr wrap="square" lIns="0" tIns="0" rIns="0" bIns="0" rtlCol="0" anchor="ctr"/>
          <a:lstStyle/>
          <a:p>
            <a:pPr algn="l" indent="0" marL="0">
              <a:buNone/>
            </a:pPr>
            <a:r>
              <a:rPr lang="en-US" sz="2200" b="1" dirty="0">
                <a:solidFill>
                  <a:srgbClr val="000000"/>
                </a:solidFill>
              </a:rPr>
              <a:t>Σᵢₖ (Σⱼ xᵢⱼₖ − 1)²
</a:t>
            </a:r>
            <a:endParaRPr lang="en-US" sz="2200" dirty="0"/>
          </a:p>
          <a:p>
            <a:pPr algn="l" indent="0" marL="0">
              <a:buNone/>
            </a:pPr>
            <a:r>
              <a:rPr lang="en-US" sz="2000" i="1" dirty="0">
                <a:solidFill>
                  <a:srgbClr val="3D4F60"/>
                </a:solidFill>
              </a:rPr>
              <a:t>each digit appears once per row</a:t>
            </a:r>
            <a:endParaRPr lang="en-US" sz="2200" dirty="0"/>
          </a:p>
        </p:txBody>
      </p:sp>
      <p:sp>
        <p:nvSpPr>
          <p:cNvPr id="33" name="Shape 31"/>
          <p:cNvSpPr/>
          <p:nvPr/>
        </p:nvSpPr>
        <p:spPr>
          <a:xfrm>
            <a:off x="731520" y="19549872"/>
            <a:ext cx="2468880" cy="1207008"/>
          </a:xfrm>
          <a:prstGeom prst="rect">
            <a:avLst/>
          </a:prstGeom>
          <a:solidFill>
            <a:srgbClr val="0D1B4B"/>
          </a:solidFill>
          <a:ln w="12700">
            <a:solidFill>
              <a:srgbClr val="0D1B4B"/>
            </a:solidFill>
            <a:prstDash val="solid"/>
          </a:ln>
        </p:spPr>
      </p:sp>
      <p:sp>
        <p:nvSpPr>
          <p:cNvPr id="34" name="Text 32"/>
          <p:cNvSpPr/>
          <p:nvPr/>
        </p:nvSpPr>
        <p:spPr>
          <a:xfrm>
            <a:off x="731520" y="19549872"/>
            <a:ext cx="2468880" cy="1207008"/>
          </a:xfrm>
          <a:prstGeom prst="rect">
            <a:avLst/>
          </a:prstGeom>
          <a:noFill/>
          <a:ln/>
        </p:spPr>
        <p:txBody>
          <a:bodyPr wrap="square" lIns="0" tIns="0" rIns="0" bIns="0" rtlCol="0" anchor="ctr"/>
          <a:lstStyle/>
          <a:p>
            <a:pPr algn="ctr" indent="0" marL="0">
              <a:buNone/>
            </a:pPr>
            <a:r>
              <a:rPr lang="en-US" sz="2200" b="1" dirty="0">
                <a:solidFill>
                  <a:srgbClr val="FFFFFF"/>
                </a:solidFill>
              </a:rPr>
              <a:t>E₃  Column</a:t>
            </a:r>
            <a:endParaRPr lang="en-US" sz="2200" dirty="0"/>
          </a:p>
        </p:txBody>
      </p:sp>
      <p:sp>
        <p:nvSpPr>
          <p:cNvPr id="35" name="Shape 33"/>
          <p:cNvSpPr/>
          <p:nvPr/>
        </p:nvSpPr>
        <p:spPr>
          <a:xfrm>
            <a:off x="3218688" y="19549872"/>
            <a:ext cx="9034272" cy="1207008"/>
          </a:xfrm>
          <a:prstGeom prst="rect">
            <a:avLst/>
          </a:prstGeom>
          <a:solidFill>
            <a:srgbClr val="E8F4FA"/>
          </a:solidFill>
          <a:ln w="12700">
            <a:solidFill>
              <a:srgbClr val="B8D0E8"/>
            </a:solidFill>
            <a:prstDash val="solid"/>
          </a:ln>
        </p:spPr>
      </p:sp>
      <p:sp>
        <p:nvSpPr>
          <p:cNvPr id="36" name="Text 34"/>
          <p:cNvSpPr/>
          <p:nvPr/>
        </p:nvSpPr>
        <p:spPr>
          <a:xfrm>
            <a:off x="3383280" y="19549872"/>
            <a:ext cx="8851392" cy="1207008"/>
          </a:xfrm>
          <a:prstGeom prst="rect">
            <a:avLst/>
          </a:prstGeom>
          <a:noFill/>
          <a:ln/>
        </p:spPr>
        <p:txBody>
          <a:bodyPr wrap="square" lIns="0" tIns="0" rIns="0" bIns="0" rtlCol="0" anchor="ctr"/>
          <a:lstStyle/>
          <a:p>
            <a:pPr algn="l" indent="0" marL="0">
              <a:buNone/>
            </a:pPr>
            <a:r>
              <a:rPr lang="en-US" sz="2200" b="1" dirty="0">
                <a:solidFill>
                  <a:srgbClr val="000000"/>
                </a:solidFill>
              </a:rPr>
              <a:t>Σⱼₖ (Σᵢ xᵢⱼₖ − 1)²
</a:t>
            </a:r>
            <a:endParaRPr lang="en-US" sz="2200" dirty="0"/>
          </a:p>
          <a:p>
            <a:pPr algn="l" indent="0" marL="0">
              <a:buNone/>
            </a:pPr>
            <a:r>
              <a:rPr lang="en-US" sz="2000" i="1" dirty="0">
                <a:solidFill>
                  <a:srgbClr val="3D4F60"/>
                </a:solidFill>
              </a:rPr>
              <a:t>each digit appears once per column</a:t>
            </a:r>
            <a:endParaRPr lang="en-US" sz="2200" dirty="0"/>
          </a:p>
        </p:txBody>
      </p:sp>
      <p:sp>
        <p:nvSpPr>
          <p:cNvPr id="37" name="Shape 35"/>
          <p:cNvSpPr/>
          <p:nvPr/>
        </p:nvSpPr>
        <p:spPr>
          <a:xfrm>
            <a:off x="731520" y="20875752"/>
            <a:ext cx="2468880" cy="1207008"/>
          </a:xfrm>
          <a:prstGeom prst="rect">
            <a:avLst/>
          </a:prstGeom>
          <a:solidFill>
            <a:srgbClr val="0D1B4B"/>
          </a:solidFill>
          <a:ln w="12700">
            <a:solidFill>
              <a:srgbClr val="0D1B4B"/>
            </a:solidFill>
            <a:prstDash val="solid"/>
          </a:ln>
        </p:spPr>
      </p:sp>
      <p:sp>
        <p:nvSpPr>
          <p:cNvPr id="38" name="Text 36"/>
          <p:cNvSpPr/>
          <p:nvPr/>
        </p:nvSpPr>
        <p:spPr>
          <a:xfrm>
            <a:off x="731520" y="20875752"/>
            <a:ext cx="2468880" cy="1207008"/>
          </a:xfrm>
          <a:prstGeom prst="rect">
            <a:avLst/>
          </a:prstGeom>
          <a:noFill/>
          <a:ln/>
        </p:spPr>
        <p:txBody>
          <a:bodyPr wrap="square" lIns="0" tIns="0" rIns="0" bIns="0" rtlCol="0" anchor="ctr"/>
          <a:lstStyle/>
          <a:p>
            <a:pPr algn="ctr" indent="0" marL="0">
              <a:buNone/>
            </a:pPr>
            <a:r>
              <a:rPr lang="en-US" sz="2200" b="1" dirty="0">
                <a:solidFill>
                  <a:srgbClr val="FFFFFF"/>
                </a:solidFill>
              </a:rPr>
              <a:t>E₄  Box</a:t>
            </a:r>
            <a:endParaRPr lang="en-US" sz="2200" dirty="0"/>
          </a:p>
        </p:txBody>
      </p:sp>
      <p:sp>
        <p:nvSpPr>
          <p:cNvPr id="39" name="Shape 37"/>
          <p:cNvSpPr/>
          <p:nvPr/>
        </p:nvSpPr>
        <p:spPr>
          <a:xfrm>
            <a:off x="3218688" y="20875752"/>
            <a:ext cx="9034272" cy="1207008"/>
          </a:xfrm>
          <a:prstGeom prst="rect">
            <a:avLst/>
          </a:prstGeom>
          <a:solidFill>
            <a:srgbClr val="E8F4FA"/>
          </a:solidFill>
          <a:ln w="12700">
            <a:solidFill>
              <a:srgbClr val="B8D0E8"/>
            </a:solidFill>
            <a:prstDash val="solid"/>
          </a:ln>
        </p:spPr>
      </p:sp>
      <p:sp>
        <p:nvSpPr>
          <p:cNvPr id="40" name="Text 38"/>
          <p:cNvSpPr/>
          <p:nvPr/>
        </p:nvSpPr>
        <p:spPr>
          <a:xfrm>
            <a:off x="3383280" y="20875752"/>
            <a:ext cx="8851392" cy="1207008"/>
          </a:xfrm>
          <a:prstGeom prst="rect">
            <a:avLst/>
          </a:prstGeom>
          <a:noFill/>
          <a:ln/>
        </p:spPr>
        <p:txBody>
          <a:bodyPr wrap="square" lIns="0" tIns="0" rIns="0" bIns="0" rtlCol="0" anchor="ctr"/>
          <a:lstStyle/>
          <a:p>
            <a:pPr algn="l" indent="0" marL="0">
              <a:buNone/>
            </a:pPr>
            <a:r>
              <a:rPr lang="en-US" sz="2200" b="1" dirty="0">
                <a:solidFill>
                  <a:srgbClr val="000000"/>
                </a:solidFill>
              </a:rPr>
              <a:t>Σʙₒˣ,ₖ (Σ₍ᵢ,ⱼ₎∈ʙₒˣ xᵢⱼₖ − 1)²
</a:t>
            </a:r>
            <a:endParaRPr lang="en-US" sz="2200" dirty="0"/>
          </a:p>
          <a:p>
            <a:pPr algn="l" indent="0" marL="0">
              <a:buNone/>
            </a:pPr>
            <a:r>
              <a:rPr lang="en-US" sz="2000" i="1" dirty="0">
                <a:solidFill>
                  <a:srgbClr val="3D4F60"/>
                </a:solidFill>
              </a:rPr>
              <a:t>each digit appears once per √N×√N box</a:t>
            </a:r>
            <a:endParaRPr lang="en-US" sz="2200" dirty="0"/>
          </a:p>
        </p:txBody>
      </p:sp>
      <p:sp>
        <p:nvSpPr>
          <p:cNvPr id="41" name="Shape 39"/>
          <p:cNvSpPr/>
          <p:nvPr/>
        </p:nvSpPr>
        <p:spPr>
          <a:xfrm>
            <a:off x="731520" y="22265640"/>
            <a:ext cx="11521440" cy="1115568"/>
          </a:xfrm>
          <a:prstGeom prst="rect">
            <a:avLst/>
          </a:prstGeom>
          <a:solidFill>
            <a:srgbClr val="0D1B4B"/>
          </a:solidFill>
          <a:ln w="25400">
            <a:solidFill>
              <a:srgbClr val="00B4D8"/>
            </a:solidFill>
            <a:prstDash val="solid"/>
          </a:ln>
        </p:spPr>
      </p:sp>
      <p:sp>
        <p:nvSpPr>
          <p:cNvPr id="42" name="Text 40"/>
          <p:cNvSpPr/>
          <p:nvPr/>
        </p:nvSpPr>
        <p:spPr>
          <a:xfrm>
            <a:off x="868680" y="22265640"/>
            <a:ext cx="11338560" cy="1115568"/>
          </a:xfrm>
          <a:prstGeom prst="rect">
            <a:avLst/>
          </a:prstGeom>
          <a:noFill/>
          <a:ln/>
        </p:spPr>
        <p:txBody>
          <a:bodyPr wrap="square" lIns="0" tIns="0" rIns="0" bIns="0" rtlCol="0" anchor="ctr"/>
          <a:lstStyle/>
          <a:p>
            <a:pPr algn="l" indent="0" marL="0">
              <a:buNone/>
            </a:pPr>
            <a:r>
              <a:rPr lang="en-US" sz="2100" b="1" dirty="0">
                <a:solidFill>
                  <a:srgbClr val="00B4D8"/>
                </a:solidFill>
              </a:rPr>
              <a:t>Matrix entries: </a:t>
            </a:r>
            <a:pPr algn="l" indent="0" marL="0">
              <a:buNone/>
            </a:pPr>
            <a:r>
              <a:rPr lang="en-US" sz="2100" dirty="0">
                <a:solidFill>
                  <a:srgbClr val="FFFFFF"/>
                </a:solidFill>
              </a:rPr>
              <a:t>diagonal −1 · off-diagonal (conflicting vars) +2 · </a:t>
            </a:r>
            <a:pPr algn="l" indent="0" marL="0">
              <a:buNone/>
            </a:pPr>
            <a:r>
              <a:rPr lang="en-US" sz="2100" b="1" dirty="0">
                <a:solidFill>
                  <a:srgbClr val="00B4D8"/>
                </a:solidFill>
              </a:rPr>
              <a:t>4×4:</a:t>
            </a:r>
            <a:pPr algn="l" indent="0" marL="0">
              <a:buNone/>
            </a:pPr>
            <a:r>
              <a:rPr lang="en-US" sz="2100" dirty="0">
                <a:solidFill>
                  <a:srgbClr val="FFFFFF"/>
                </a:solidFill>
              </a:rPr>
              <a:t> 64×64 Q · </a:t>
            </a:r>
            <a:pPr algn="l" indent="0" marL="0">
              <a:buNone/>
            </a:pPr>
            <a:r>
              <a:rPr lang="en-US" sz="2100" b="1" dirty="0">
                <a:solidFill>
                  <a:srgbClr val="00B4D8"/>
                </a:solidFill>
              </a:rPr>
              <a:t>9×9:</a:t>
            </a:r>
            <a:pPr algn="l" indent="0" marL="0">
              <a:buNone/>
            </a:pPr>
            <a:r>
              <a:rPr lang="en-US" sz="2100" dirty="0">
                <a:solidFill>
                  <a:srgbClr val="FFFFFF"/>
                </a:solidFill>
              </a:rPr>
              <a:t> 459×459 Q (30 givens eliminated) · 90.6% sparse</a:t>
            </a:r>
            <a:endParaRPr lang="en-US" sz="2100" dirty="0"/>
          </a:p>
        </p:txBody>
      </p:sp>
      <p:sp>
        <p:nvSpPr>
          <p:cNvPr id="43" name="Text 41"/>
          <p:cNvSpPr/>
          <p:nvPr/>
        </p:nvSpPr>
        <p:spPr>
          <a:xfrm>
            <a:off x="731520" y="23454360"/>
            <a:ext cx="11521440" cy="347472"/>
          </a:xfrm>
          <a:prstGeom prst="rect">
            <a:avLst/>
          </a:prstGeom>
          <a:noFill/>
          <a:ln/>
        </p:spPr>
        <p:txBody>
          <a:bodyPr wrap="square" lIns="0" tIns="0" rIns="0" bIns="0" rtlCol="0" anchor="ctr"/>
          <a:lstStyle/>
          <a:p>
            <a:pPr algn="l" indent="0" marL="0">
              <a:buNone/>
            </a:pPr>
            <a:r>
              <a:rPr lang="en-US" sz="1800" i="1" dirty="0">
                <a:solidFill>
                  <a:srgbClr val="3D4F60"/>
                </a:solidFill>
              </a:rPr>
              <a:t>λ₁=λ₂=λ₃=λ₄=1.0  (Lagrange multipliers, all equal — penalty weight tuning is a future direction)</a:t>
            </a:r>
            <a:endParaRPr lang="en-US" sz="1800" dirty="0"/>
          </a:p>
        </p:txBody>
      </p:sp>
      <p:sp>
        <p:nvSpPr>
          <p:cNvPr id="44" name="Shape 42"/>
          <p:cNvSpPr/>
          <p:nvPr/>
        </p:nvSpPr>
        <p:spPr>
          <a:xfrm>
            <a:off x="548640" y="24003000"/>
            <a:ext cx="11887200" cy="7315200"/>
          </a:xfrm>
          <a:prstGeom prst="rect">
            <a:avLst/>
          </a:prstGeom>
          <a:solidFill>
            <a:srgbClr val="FFFFFF"/>
          </a:solidFill>
          <a:ln w="19050">
            <a:solidFill>
              <a:srgbClr val="B8D0E8"/>
            </a:solidFill>
            <a:prstDash val="solid"/>
          </a:ln>
        </p:spPr>
      </p:sp>
      <p:sp>
        <p:nvSpPr>
          <p:cNvPr id="45" name="Shape 43"/>
          <p:cNvSpPr/>
          <p:nvPr/>
        </p:nvSpPr>
        <p:spPr>
          <a:xfrm>
            <a:off x="548640" y="24003000"/>
            <a:ext cx="11887200" cy="566928"/>
          </a:xfrm>
          <a:prstGeom prst="rect">
            <a:avLst/>
          </a:prstGeom>
          <a:solidFill>
            <a:srgbClr val="0077A8"/>
          </a:solidFill>
          <a:ln w="12700">
            <a:solidFill>
              <a:srgbClr val="0077A8"/>
            </a:solidFill>
            <a:prstDash val="solid"/>
          </a:ln>
        </p:spPr>
      </p:sp>
      <p:sp>
        <p:nvSpPr>
          <p:cNvPr id="46" name="Text 44"/>
          <p:cNvSpPr/>
          <p:nvPr/>
        </p:nvSpPr>
        <p:spPr>
          <a:xfrm>
            <a:off x="713232" y="24003000"/>
            <a:ext cx="11704320" cy="566928"/>
          </a:xfrm>
          <a:prstGeom prst="rect">
            <a:avLst/>
          </a:prstGeom>
          <a:noFill/>
          <a:ln/>
        </p:spPr>
        <p:txBody>
          <a:bodyPr wrap="square" lIns="0" tIns="0" rIns="0" bIns="0" rtlCol="0" anchor="ctr"/>
          <a:lstStyle/>
          <a:p>
            <a:pPr algn="l" indent="0" marL="0">
              <a:buNone/>
            </a:pPr>
            <a:r>
              <a:rPr lang="en-US" sz="2600" b="1" spc="200" kern="0" dirty="0">
                <a:solidFill>
                  <a:srgbClr val="FFFFFF"/>
                </a:solidFill>
              </a:rPr>
              <a:t>ONE-HOT ENCODING</a:t>
            </a:r>
            <a:endParaRPr lang="en-US" sz="2600" dirty="0"/>
          </a:p>
        </p:txBody>
      </p:sp>
      <p:pic>
        <p:nvPicPr>
          <p:cNvPr id="47" name="Image 0" descr="figures/vectorized/fig2_cropped.png">    </p:cNvPr>
          <p:cNvPicPr>
            <a:picLocks noChangeAspect="1"/>
          </p:cNvPicPr>
          <p:nvPr/>
        </p:nvPicPr>
        <p:blipFill>
          <a:blip r:embed="rId1"/>
          <a:stretch>
            <a:fillRect/>
          </a:stretch>
        </p:blipFill>
        <p:spPr>
          <a:xfrm>
            <a:off x="846645" y="24688800"/>
            <a:ext cx="11291190" cy="6428232"/>
          </a:xfrm>
          <a:prstGeom prst="rect">
            <a:avLst/>
          </a:prstGeom>
        </p:spPr>
      </p:pic>
      <p:sp>
        <p:nvSpPr>
          <p:cNvPr id="48" name="Shape 45"/>
          <p:cNvSpPr/>
          <p:nvPr/>
        </p:nvSpPr>
        <p:spPr>
          <a:xfrm>
            <a:off x="13030200" y="4206240"/>
            <a:ext cx="11887200" cy="6400800"/>
          </a:xfrm>
          <a:prstGeom prst="rect">
            <a:avLst/>
          </a:prstGeom>
          <a:solidFill>
            <a:srgbClr val="E8F4FA"/>
          </a:solidFill>
          <a:ln w="19050">
            <a:solidFill>
              <a:srgbClr val="B8D0E8"/>
            </a:solidFill>
            <a:prstDash val="solid"/>
          </a:ln>
        </p:spPr>
      </p:sp>
      <p:sp>
        <p:nvSpPr>
          <p:cNvPr id="49" name="Shape 46"/>
          <p:cNvSpPr/>
          <p:nvPr/>
        </p:nvSpPr>
        <p:spPr>
          <a:xfrm>
            <a:off x="13030200" y="4206240"/>
            <a:ext cx="11887200" cy="566928"/>
          </a:xfrm>
          <a:prstGeom prst="rect">
            <a:avLst/>
          </a:prstGeom>
          <a:solidFill>
            <a:srgbClr val="0077A8"/>
          </a:solidFill>
          <a:ln w="12700">
            <a:solidFill>
              <a:srgbClr val="0077A8"/>
            </a:solidFill>
            <a:prstDash val="solid"/>
          </a:ln>
        </p:spPr>
      </p:sp>
      <p:sp>
        <p:nvSpPr>
          <p:cNvPr id="50" name="Text 47"/>
          <p:cNvSpPr/>
          <p:nvPr/>
        </p:nvSpPr>
        <p:spPr>
          <a:xfrm>
            <a:off x="13194792" y="4206240"/>
            <a:ext cx="11704320" cy="566928"/>
          </a:xfrm>
          <a:prstGeom prst="rect">
            <a:avLst/>
          </a:prstGeom>
          <a:noFill/>
          <a:ln/>
        </p:spPr>
        <p:txBody>
          <a:bodyPr wrap="square" lIns="0" tIns="0" rIns="0" bIns="0" rtlCol="0" anchor="ctr"/>
          <a:lstStyle/>
          <a:p>
            <a:pPr algn="l" indent="0" marL="0">
              <a:buNone/>
            </a:pPr>
            <a:r>
              <a:rPr lang="en-US" sz="2600" b="1" spc="200" kern="0" dirty="0">
                <a:solidFill>
                  <a:srgbClr val="FFFFFF"/>
                </a:solidFill>
              </a:rPr>
              <a:t>METHODOLOGY</a:t>
            </a:r>
            <a:endParaRPr lang="en-US" sz="2600" dirty="0"/>
          </a:p>
        </p:txBody>
      </p:sp>
      <p:pic>
        <p:nvPicPr>
          <p:cNvPr id="51" name="Image 1" descr="figures/vectorized/dwave_qpu_box.jpg">    </p:cNvPr>
          <p:cNvPicPr>
            <a:picLocks noChangeAspect="1"/>
          </p:cNvPicPr>
          <p:nvPr/>
        </p:nvPicPr>
        <p:blipFill>
          <a:blip r:embed="rId2"/>
          <a:srcRect l="-1000" r="-1000" t="0" b="0"/>
          <a:stretch/>
        </p:blipFill>
        <p:spPr>
          <a:xfrm>
            <a:off x="20071080" y="4919472"/>
            <a:ext cx="4663440" cy="4572000"/>
          </a:xfrm>
          <a:prstGeom prst="rect">
            <a:avLst/>
          </a:prstGeom>
        </p:spPr>
      </p:pic>
      <p:sp>
        <p:nvSpPr>
          <p:cNvPr id="52" name="Text 48"/>
          <p:cNvSpPr/>
          <p:nvPr/>
        </p:nvSpPr>
        <p:spPr>
          <a:xfrm>
            <a:off x="20071080" y="9528048"/>
            <a:ext cx="4663440" cy="347472"/>
          </a:xfrm>
          <a:prstGeom prst="rect">
            <a:avLst/>
          </a:prstGeom>
          <a:noFill/>
          <a:ln/>
        </p:spPr>
        <p:txBody>
          <a:bodyPr wrap="square" lIns="0" tIns="0" rIns="0" bIns="0" rtlCol="0" anchor="ctr"/>
          <a:lstStyle/>
          <a:p>
            <a:pPr algn="ctr" indent="0" marL="0">
              <a:buNone/>
            </a:pPr>
            <a:r>
              <a:rPr lang="en-US" sz="1700" i="1" dirty="0">
                <a:solidFill>
                  <a:srgbClr val="3D4F60"/>
                </a:solidFill>
              </a:rPr>
              <a:t>D-Wave Advantage2</a:t>
            </a:r>
            <a:endParaRPr lang="en-US" sz="1700" dirty="0"/>
          </a:p>
        </p:txBody>
      </p:sp>
      <p:sp>
        <p:nvSpPr>
          <p:cNvPr id="53" name="Text 49"/>
          <p:cNvSpPr/>
          <p:nvPr/>
        </p:nvSpPr>
        <p:spPr>
          <a:xfrm>
            <a:off x="13213080" y="4864608"/>
            <a:ext cx="6675120" cy="5623560"/>
          </a:xfrm>
          <a:prstGeom prst="rect">
            <a:avLst/>
          </a:prstGeom>
          <a:noFill/>
          <a:ln/>
        </p:spPr>
        <p:txBody>
          <a:bodyPr wrap="square" rtlCol="0" anchor="t"/>
          <a:lstStyle/>
          <a:p>
            <a:pPr algn="l" indent="0" marL="0">
              <a:buNone/>
            </a:pPr>
            <a:r>
              <a:rPr lang="en-US" sz="2400" b="1" dirty="0">
                <a:solidFill>
                  <a:srgbClr val="000000"/>
                </a:solidFill>
              </a:rPr>
              <a:t>Solvers Evaluated
</a:t>
            </a:r>
            <a:endParaRPr lang="en-US" sz="2400" dirty="0"/>
          </a:p>
          <a:p>
            <a:pPr algn="l" indent="0" marL="0">
              <a:buNone/>
            </a:pPr>
            <a:r>
              <a:rPr lang="en-US" sz="2100" dirty="0">
                <a:solidFill>
                  <a:srgbClr val="000000"/>
                </a:solidFill>
              </a:rPr>
              <a:t>• Simulated Annealing (D-Wave neal)
  100 reads, 1000 sweeps
</a:t>
            </a:r>
            <a:endParaRPr lang="en-US" sz="2400" dirty="0"/>
          </a:p>
          <a:p>
            <a:pPr algn="l" indent="0" marL="0">
              <a:buNone/>
            </a:pPr>
            <a:r>
              <a:rPr lang="en-US" sz="2100" dirty="0">
                <a:solidFill>
                  <a:srgbClr val="000000"/>
                </a:solidFill>
              </a:rPr>
              <a:t>• D-Wave Leap Hybrid BQM v2.2
  9-second time limit
</a:t>
            </a:r>
            <a:endParaRPr lang="en-US" sz="2400" dirty="0"/>
          </a:p>
          <a:p>
            <a:pPr algn="l" indent="0" marL="0">
              <a:buNone/>
            </a:pPr>
            <a:r>
              <a:rPr lang="en-US" sz="2100" dirty="0">
                <a:solidFill>
                  <a:srgbClr val="000000"/>
                </a:solidFill>
              </a:rPr>
              <a:t>• D-Wave Advantage2 QPU
  1,000 reads · 200 µs · forward annealing
</a:t>
            </a:r>
            <a:endParaRPr lang="en-US" sz="2400" dirty="0"/>
          </a:p>
          <a:p>
            <a:pPr algn="l" indent="0" marL="0">
              <a:buNone/>
            </a:pPr>
            <a:r>
              <a:rPr lang="en-US" sz="2100" dirty="0">
                <a:solidFill>
                  <a:srgbClr val="000000"/>
                </a:solidFill>
              </a:rPr>
              <a:t>• QAOA (Qiskit) — 2×2 only
  p=2, 2048 shots, COBYLA
</a:t>
            </a:r>
            <a:endParaRPr lang="en-US" sz="2400" dirty="0"/>
          </a:p>
          <a:p>
            <a:pPr algn="l" indent="0" marL="0">
              <a:buNone/>
            </a:pPr>
            <a:r>
              <a:rPr lang="en-US" sz="2400" b="1" dirty="0">
                <a:solidFill>
                  <a:srgbClr val="000000"/>
                </a:solidFill>
              </a:rPr>
              <a:t>Test Cases
</a:t>
            </a:r>
            <a:endParaRPr lang="en-US" sz="2400" dirty="0"/>
          </a:p>
          <a:p>
            <a:pPr algn="l" indent="0" marL="0">
              <a:buNone/>
            </a:pPr>
            <a:r>
              <a:rPr lang="en-US" sz="2100" dirty="0">
                <a:solidFill>
                  <a:srgbClr val="000000"/>
                </a:solidFill>
              </a:rPr>
              <a:t>• 4×4 blank — 64 vars
</a:t>
            </a:r>
            <a:endParaRPr lang="en-US" sz="2400" dirty="0"/>
          </a:p>
          <a:p>
            <a:pPr algn="l" indent="0" marL="0">
              <a:buNone/>
            </a:pPr>
            <a:r>
              <a:rPr lang="en-US" sz="2100" dirty="0">
                <a:solidFill>
                  <a:srgbClr val="000000"/>
                </a:solidFill>
              </a:rPr>
              <a:t>• 9×9 Easy — 30 givens, 459 vars
</a:t>
            </a:r>
            <a:endParaRPr lang="en-US" sz="2400" dirty="0"/>
          </a:p>
          <a:p>
            <a:pPr algn="l" indent="0" marL="0">
              <a:buNone/>
            </a:pPr>
            <a:r>
              <a:rPr lang="en-US" sz="2100" dirty="0">
                <a:solidFill>
                  <a:srgbClr val="000000"/>
                </a:solidFill>
              </a:rPr>
              <a:t>• 9×9 Medium — 25 givens, 504 vars
</a:t>
            </a:r>
            <a:endParaRPr lang="en-US" sz="2400" dirty="0"/>
          </a:p>
          <a:p>
            <a:pPr algn="l" indent="0" marL="0">
              <a:buNone/>
            </a:pPr>
            <a:r>
              <a:rPr lang="en-US" sz="2100" dirty="0">
                <a:solidFill>
                  <a:srgbClr val="000000"/>
                </a:solidFill>
              </a:rPr>
              <a:t>• 9×9 Hard — 17 givens, 576 vars</a:t>
            </a:r>
            <a:endParaRPr lang="en-US" sz="2400" dirty="0"/>
          </a:p>
        </p:txBody>
      </p:sp>
      <p:sp>
        <p:nvSpPr>
          <p:cNvPr id="54" name="Shape 50"/>
          <p:cNvSpPr/>
          <p:nvPr/>
        </p:nvSpPr>
        <p:spPr>
          <a:xfrm>
            <a:off x="13030200" y="10789920"/>
            <a:ext cx="11887200" cy="8229600"/>
          </a:xfrm>
          <a:prstGeom prst="rect">
            <a:avLst/>
          </a:prstGeom>
          <a:solidFill>
            <a:srgbClr val="FFFFFF"/>
          </a:solidFill>
          <a:ln w="19050">
            <a:solidFill>
              <a:srgbClr val="B8D0E8"/>
            </a:solidFill>
            <a:prstDash val="solid"/>
          </a:ln>
        </p:spPr>
      </p:sp>
      <p:sp>
        <p:nvSpPr>
          <p:cNvPr id="55" name="Shape 51"/>
          <p:cNvSpPr/>
          <p:nvPr/>
        </p:nvSpPr>
        <p:spPr>
          <a:xfrm>
            <a:off x="13030200" y="10789920"/>
            <a:ext cx="11887200" cy="566928"/>
          </a:xfrm>
          <a:prstGeom prst="rect">
            <a:avLst/>
          </a:prstGeom>
          <a:solidFill>
            <a:srgbClr val="0077A8"/>
          </a:solidFill>
          <a:ln w="12700">
            <a:solidFill>
              <a:srgbClr val="0077A8"/>
            </a:solidFill>
            <a:prstDash val="solid"/>
          </a:ln>
        </p:spPr>
      </p:sp>
      <p:sp>
        <p:nvSpPr>
          <p:cNvPr id="56" name="Text 52"/>
          <p:cNvSpPr/>
          <p:nvPr/>
        </p:nvSpPr>
        <p:spPr>
          <a:xfrm>
            <a:off x="13194792" y="10789920"/>
            <a:ext cx="11704320" cy="566928"/>
          </a:xfrm>
          <a:prstGeom prst="rect">
            <a:avLst/>
          </a:prstGeom>
          <a:noFill/>
          <a:ln/>
        </p:spPr>
        <p:txBody>
          <a:bodyPr wrap="square" lIns="0" tIns="0" rIns="0" bIns="0" rtlCol="0" anchor="ctr"/>
          <a:lstStyle/>
          <a:p>
            <a:pPr algn="l" indent="0" marL="0">
              <a:buNone/>
            </a:pPr>
            <a:r>
              <a:rPr lang="en-US" sz="2600" b="1" spc="200" kern="0" dirty="0">
                <a:solidFill>
                  <a:srgbClr val="FFFFFF"/>
                </a:solidFill>
              </a:rPr>
              <a:t>SUDOKU TEST PUZZLES (9×9 EASY &amp; HARD)</a:t>
            </a:r>
            <a:endParaRPr lang="en-US" sz="2600" dirty="0"/>
          </a:p>
        </p:txBody>
      </p:sp>
      <p:pic>
        <p:nvPicPr>
          <p:cNvPr id="57" name="Image 2" descr="figures/vectorized/fig1_2puzzles.png">    </p:cNvPr>
          <p:cNvPicPr>
            <a:picLocks noChangeAspect="1"/>
          </p:cNvPicPr>
          <p:nvPr/>
        </p:nvPicPr>
        <p:blipFill>
          <a:blip r:embed="rId3"/>
          <a:stretch>
            <a:fillRect/>
          </a:stretch>
        </p:blipFill>
        <p:spPr>
          <a:xfrm>
            <a:off x="13139928" y="11672011"/>
            <a:ext cx="11667744" cy="6950050"/>
          </a:xfrm>
          <a:prstGeom prst="rect">
            <a:avLst/>
          </a:prstGeom>
        </p:spPr>
      </p:pic>
      <p:sp>
        <p:nvSpPr>
          <p:cNvPr id="58" name="Shape 53"/>
          <p:cNvSpPr/>
          <p:nvPr/>
        </p:nvSpPr>
        <p:spPr>
          <a:xfrm>
            <a:off x="13030200" y="19202400"/>
            <a:ext cx="11887200" cy="5029200"/>
          </a:xfrm>
          <a:prstGeom prst="rect">
            <a:avLst/>
          </a:prstGeom>
          <a:solidFill>
            <a:srgbClr val="FFFFFF"/>
          </a:solidFill>
          <a:ln w="19050">
            <a:solidFill>
              <a:srgbClr val="B8D0E8"/>
            </a:solidFill>
            <a:prstDash val="solid"/>
          </a:ln>
        </p:spPr>
      </p:sp>
      <p:sp>
        <p:nvSpPr>
          <p:cNvPr id="59" name="Shape 54"/>
          <p:cNvSpPr/>
          <p:nvPr/>
        </p:nvSpPr>
        <p:spPr>
          <a:xfrm>
            <a:off x="13030200" y="19202400"/>
            <a:ext cx="11887200" cy="566928"/>
          </a:xfrm>
          <a:prstGeom prst="rect">
            <a:avLst/>
          </a:prstGeom>
          <a:solidFill>
            <a:srgbClr val="0077A8"/>
          </a:solidFill>
          <a:ln w="12700">
            <a:solidFill>
              <a:srgbClr val="0077A8"/>
            </a:solidFill>
            <a:prstDash val="solid"/>
          </a:ln>
        </p:spPr>
      </p:sp>
      <p:sp>
        <p:nvSpPr>
          <p:cNvPr id="60" name="Text 55"/>
          <p:cNvSpPr/>
          <p:nvPr/>
        </p:nvSpPr>
        <p:spPr>
          <a:xfrm>
            <a:off x="13194792" y="19202400"/>
            <a:ext cx="11704320" cy="566928"/>
          </a:xfrm>
          <a:prstGeom prst="rect">
            <a:avLst/>
          </a:prstGeom>
          <a:noFill/>
          <a:ln/>
        </p:spPr>
        <p:txBody>
          <a:bodyPr wrap="square" lIns="0" tIns="0" rIns="0" bIns="0" rtlCol="0" anchor="ctr"/>
          <a:lstStyle/>
          <a:p>
            <a:pPr algn="l" indent="0" marL="0">
              <a:buNone/>
            </a:pPr>
            <a:r>
              <a:rPr lang="en-US" sz="2600" b="1" spc="200" kern="0" dirty="0">
                <a:solidFill>
                  <a:srgbClr val="FFFFFF"/>
                </a:solidFill>
              </a:rPr>
              <a:t>RESULTS: D-WAVE QPU VS. SIMULATED ANNEALING</a:t>
            </a:r>
            <a:endParaRPr lang="en-US" sz="2600" dirty="0"/>
          </a:p>
        </p:txBody>
      </p:sp>
      <p:pic>
        <p:nvPicPr>
          <p:cNvPr id="61" name="Image 3" descr="figures/vectorized/fig5_cropped.png">    </p:cNvPr>
          <p:cNvPicPr>
            <a:picLocks noChangeAspect="1"/>
          </p:cNvPicPr>
          <p:nvPr/>
        </p:nvPicPr>
        <p:blipFill>
          <a:blip r:embed="rId4"/>
          <a:stretch>
            <a:fillRect/>
          </a:stretch>
        </p:blipFill>
        <p:spPr>
          <a:xfrm>
            <a:off x="13139928" y="19985346"/>
            <a:ext cx="11667744" cy="3947941"/>
          </a:xfrm>
          <a:prstGeom prst="rect">
            <a:avLst/>
          </a:prstGeom>
        </p:spPr>
      </p:pic>
      <p:sp>
        <p:nvSpPr>
          <p:cNvPr id="62" name="Shape 56"/>
          <p:cNvSpPr/>
          <p:nvPr/>
        </p:nvSpPr>
        <p:spPr>
          <a:xfrm>
            <a:off x="13030200" y="24414480"/>
            <a:ext cx="11887200" cy="6903720"/>
          </a:xfrm>
          <a:prstGeom prst="rect">
            <a:avLst/>
          </a:prstGeom>
          <a:solidFill>
            <a:srgbClr val="FFFFFF"/>
          </a:solidFill>
          <a:ln w="19050">
            <a:solidFill>
              <a:srgbClr val="B8D0E8"/>
            </a:solidFill>
            <a:prstDash val="solid"/>
          </a:ln>
        </p:spPr>
      </p:sp>
      <p:sp>
        <p:nvSpPr>
          <p:cNvPr id="63" name="Shape 57"/>
          <p:cNvSpPr/>
          <p:nvPr/>
        </p:nvSpPr>
        <p:spPr>
          <a:xfrm>
            <a:off x="13030200" y="24414480"/>
            <a:ext cx="11887200" cy="566928"/>
          </a:xfrm>
          <a:prstGeom prst="rect">
            <a:avLst/>
          </a:prstGeom>
          <a:solidFill>
            <a:srgbClr val="0077A8"/>
          </a:solidFill>
          <a:ln w="12700">
            <a:solidFill>
              <a:srgbClr val="0077A8"/>
            </a:solidFill>
            <a:prstDash val="solid"/>
          </a:ln>
        </p:spPr>
      </p:sp>
      <p:sp>
        <p:nvSpPr>
          <p:cNvPr id="64" name="Text 58"/>
          <p:cNvSpPr/>
          <p:nvPr/>
        </p:nvSpPr>
        <p:spPr>
          <a:xfrm>
            <a:off x="13194792" y="24414480"/>
            <a:ext cx="11704320" cy="566928"/>
          </a:xfrm>
          <a:prstGeom prst="rect">
            <a:avLst/>
          </a:prstGeom>
          <a:noFill/>
          <a:ln/>
        </p:spPr>
        <p:txBody>
          <a:bodyPr wrap="square" lIns="0" tIns="0" rIns="0" bIns="0" rtlCol="0" anchor="ctr"/>
          <a:lstStyle/>
          <a:p>
            <a:pPr algn="l" indent="0" marL="0">
              <a:buNone/>
            </a:pPr>
            <a:r>
              <a:rPr lang="en-US" sz="2600" b="1" spc="200" kern="0" dirty="0">
                <a:solidFill>
                  <a:srgbClr val="FFFFFF"/>
                </a:solidFill>
              </a:rPr>
              <a:t>VARIABLE REDUCTION VIA GIVEN-CELL ELIMINATION</a:t>
            </a:r>
            <a:endParaRPr lang="en-US" sz="2600" dirty="0"/>
          </a:p>
        </p:txBody>
      </p:sp>
      <p:pic>
        <p:nvPicPr>
          <p:cNvPr id="65" name="Image 4" descr="figures/vectorized/fig3_cropped.png">    </p:cNvPr>
          <p:cNvPicPr>
            <a:picLocks noChangeAspect="1"/>
          </p:cNvPicPr>
          <p:nvPr/>
        </p:nvPicPr>
        <p:blipFill>
          <a:blip r:embed="rId5"/>
          <a:stretch>
            <a:fillRect/>
          </a:stretch>
        </p:blipFill>
        <p:spPr>
          <a:xfrm>
            <a:off x="15197386" y="25100280"/>
            <a:ext cx="7552829" cy="6016752"/>
          </a:xfrm>
          <a:prstGeom prst="rect">
            <a:avLst/>
          </a:prstGeom>
        </p:spPr>
      </p:pic>
      <p:sp>
        <p:nvSpPr>
          <p:cNvPr id="66" name="Shape 59"/>
          <p:cNvSpPr/>
          <p:nvPr/>
        </p:nvSpPr>
        <p:spPr>
          <a:xfrm>
            <a:off x="25511760" y="4206240"/>
            <a:ext cx="11887200" cy="10972800"/>
          </a:xfrm>
          <a:prstGeom prst="rect">
            <a:avLst/>
          </a:prstGeom>
          <a:solidFill>
            <a:srgbClr val="FFFFFF"/>
          </a:solidFill>
          <a:ln w="19050">
            <a:solidFill>
              <a:srgbClr val="B8D0E8"/>
            </a:solidFill>
            <a:prstDash val="solid"/>
          </a:ln>
        </p:spPr>
      </p:sp>
      <p:sp>
        <p:nvSpPr>
          <p:cNvPr id="67" name="Shape 60"/>
          <p:cNvSpPr/>
          <p:nvPr/>
        </p:nvSpPr>
        <p:spPr>
          <a:xfrm>
            <a:off x="25511760" y="4206240"/>
            <a:ext cx="11887200" cy="566928"/>
          </a:xfrm>
          <a:prstGeom prst="rect">
            <a:avLst/>
          </a:prstGeom>
          <a:solidFill>
            <a:srgbClr val="0077A8"/>
          </a:solidFill>
          <a:ln w="12700">
            <a:solidFill>
              <a:srgbClr val="0077A8"/>
            </a:solidFill>
            <a:prstDash val="solid"/>
          </a:ln>
        </p:spPr>
      </p:sp>
      <p:sp>
        <p:nvSpPr>
          <p:cNvPr id="68" name="Text 61"/>
          <p:cNvSpPr/>
          <p:nvPr/>
        </p:nvSpPr>
        <p:spPr>
          <a:xfrm>
            <a:off x="25676352" y="4206240"/>
            <a:ext cx="11704320" cy="566928"/>
          </a:xfrm>
          <a:prstGeom prst="rect">
            <a:avLst/>
          </a:prstGeom>
          <a:noFill/>
          <a:ln/>
        </p:spPr>
        <p:txBody>
          <a:bodyPr wrap="square" lIns="0" tIns="0" rIns="0" bIns="0" rtlCol="0" anchor="ctr"/>
          <a:lstStyle/>
          <a:p>
            <a:pPr algn="l" indent="0" marL="0">
              <a:buNone/>
            </a:pPr>
            <a:r>
              <a:rPr lang="en-US" sz="2600" b="1" spc="200" kern="0" dirty="0">
                <a:solidFill>
                  <a:srgbClr val="FFFFFF"/>
                </a:solidFill>
              </a:rPr>
              <a:t>QUBO COEFFICIENT MATRIX (4×4 SUDOKU, 64×64)</a:t>
            </a:r>
            <a:endParaRPr lang="en-US" sz="2600" dirty="0"/>
          </a:p>
        </p:txBody>
      </p:sp>
      <p:pic>
        <p:nvPicPr>
          <p:cNvPr id="69" name="Image 5" descr="figures/vectorized/fig4_qubo_matrix_hires-1.png">    </p:cNvPr>
          <p:cNvPicPr>
            <a:picLocks noChangeAspect="1"/>
          </p:cNvPicPr>
          <p:nvPr/>
        </p:nvPicPr>
        <p:blipFill>
          <a:blip r:embed="rId6"/>
          <a:stretch>
            <a:fillRect/>
          </a:stretch>
        </p:blipFill>
        <p:spPr>
          <a:xfrm>
            <a:off x="26034225" y="4892040"/>
            <a:ext cx="10842269" cy="10085832"/>
          </a:xfrm>
          <a:prstGeom prst="rect">
            <a:avLst/>
          </a:prstGeom>
        </p:spPr>
      </p:pic>
      <p:sp>
        <p:nvSpPr>
          <p:cNvPr id="70" name="Shape 62"/>
          <p:cNvSpPr/>
          <p:nvPr/>
        </p:nvSpPr>
        <p:spPr>
          <a:xfrm>
            <a:off x="25511760" y="15361920"/>
            <a:ext cx="11887200" cy="5943600"/>
          </a:xfrm>
          <a:prstGeom prst="rect">
            <a:avLst/>
          </a:prstGeom>
          <a:solidFill>
            <a:srgbClr val="E8F4FA"/>
          </a:solidFill>
          <a:ln w="19050">
            <a:solidFill>
              <a:srgbClr val="B8D0E8"/>
            </a:solidFill>
            <a:prstDash val="solid"/>
          </a:ln>
        </p:spPr>
      </p:sp>
      <p:sp>
        <p:nvSpPr>
          <p:cNvPr id="71" name="Shape 63"/>
          <p:cNvSpPr/>
          <p:nvPr/>
        </p:nvSpPr>
        <p:spPr>
          <a:xfrm>
            <a:off x="25511760" y="15361920"/>
            <a:ext cx="11887200" cy="566928"/>
          </a:xfrm>
          <a:prstGeom prst="rect">
            <a:avLst/>
          </a:prstGeom>
          <a:solidFill>
            <a:srgbClr val="3D4F60"/>
          </a:solidFill>
          <a:ln w="12700">
            <a:solidFill>
              <a:srgbClr val="3D4F60"/>
            </a:solidFill>
            <a:prstDash val="solid"/>
          </a:ln>
        </p:spPr>
      </p:sp>
      <p:sp>
        <p:nvSpPr>
          <p:cNvPr id="72" name="Text 64"/>
          <p:cNvSpPr/>
          <p:nvPr/>
        </p:nvSpPr>
        <p:spPr>
          <a:xfrm>
            <a:off x="25676352" y="15361920"/>
            <a:ext cx="11704320" cy="566928"/>
          </a:xfrm>
          <a:prstGeom prst="rect">
            <a:avLst/>
          </a:prstGeom>
          <a:noFill/>
          <a:ln/>
        </p:spPr>
        <p:txBody>
          <a:bodyPr wrap="square" lIns="0" tIns="0" rIns="0" bIns="0" rtlCol="0" anchor="ctr"/>
          <a:lstStyle/>
          <a:p>
            <a:pPr algn="l" indent="0" marL="0">
              <a:buNone/>
            </a:pPr>
            <a:r>
              <a:rPr lang="en-US" sz="2600" b="1" spc="200" kern="0" dirty="0">
                <a:solidFill>
                  <a:srgbClr val="FFFFFF"/>
                </a:solidFill>
              </a:rPr>
              <a:t>KEY OBSERVATIONS</a:t>
            </a:r>
            <a:endParaRPr lang="en-US" sz="2600" dirty="0"/>
          </a:p>
        </p:txBody>
      </p:sp>
      <p:sp>
        <p:nvSpPr>
          <p:cNvPr id="73" name="Text 65"/>
          <p:cNvSpPr/>
          <p:nvPr/>
        </p:nvSpPr>
        <p:spPr>
          <a:xfrm>
            <a:off x="25712928" y="16020288"/>
            <a:ext cx="502920" cy="868680"/>
          </a:xfrm>
          <a:prstGeom prst="rect">
            <a:avLst/>
          </a:prstGeom>
          <a:noFill/>
          <a:ln/>
        </p:spPr>
        <p:txBody>
          <a:bodyPr wrap="square" lIns="0" tIns="0" rIns="0" bIns="0" rtlCol="0" anchor="ctr"/>
          <a:lstStyle/>
          <a:p>
            <a:pPr algn="ctr" indent="0" marL="0">
              <a:buNone/>
            </a:pPr>
            <a:r>
              <a:rPr lang="en-US" sz="2600" dirty="0">
                <a:solidFill>
                  <a:srgbClr val="1A7A3C"/>
                </a:solidFill>
              </a:rPr>
              <a:t>✅</a:t>
            </a:r>
            <a:endParaRPr lang="en-US" sz="2600" dirty="0"/>
          </a:p>
        </p:txBody>
      </p:sp>
      <p:sp>
        <p:nvSpPr>
          <p:cNvPr id="74" name="Text 66"/>
          <p:cNvSpPr/>
          <p:nvPr/>
        </p:nvSpPr>
        <p:spPr>
          <a:xfrm>
            <a:off x="26261568" y="16020288"/>
            <a:ext cx="10927080" cy="868680"/>
          </a:xfrm>
          <a:prstGeom prst="rect">
            <a:avLst/>
          </a:prstGeom>
          <a:noFill/>
          <a:ln/>
        </p:spPr>
        <p:txBody>
          <a:bodyPr wrap="square" lIns="0" tIns="0" rIns="0" bIns="0" rtlCol="0" anchor="ctr"/>
          <a:lstStyle/>
          <a:p>
            <a:pPr algn="l" indent="0" marL="0">
              <a:buNone/>
            </a:pPr>
            <a:r>
              <a:rPr lang="en-US" sz="2000" dirty="0">
                <a:solidFill>
                  <a:srgbClr val="1A202C"/>
                </a:solidFill>
              </a:rPr>
              <a:t>SA: 99% success on 4×4 (64 vars) but 6%/0%/0% on 9×9 Easy/Medium/Hard — a 14× variable-density increase collapses classical performance.</a:t>
            </a:r>
            <a:endParaRPr lang="en-US" sz="2000" dirty="0"/>
          </a:p>
        </p:txBody>
      </p:sp>
      <p:sp>
        <p:nvSpPr>
          <p:cNvPr id="75" name="Text 67"/>
          <p:cNvSpPr/>
          <p:nvPr/>
        </p:nvSpPr>
        <p:spPr>
          <a:xfrm>
            <a:off x="25712928" y="17026128"/>
            <a:ext cx="502920" cy="868680"/>
          </a:xfrm>
          <a:prstGeom prst="rect">
            <a:avLst/>
          </a:prstGeom>
          <a:noFill/>
          <a:ln/>
        </p:spPr>
        <p:txBody>
          <a:bodyPr wrap="square" lIns="0" tIns="0" rIns="0" bIns="0" rtlCol="0" anchor="ctr"/>
          <a:lstStyle/>
          <a:p>
            <a:pPr algn="ctr" indent="0" marL="0">
              <a:buNone/>
            </a:pPr>
            <a:r>
              <a:rPr lang="en-US" sz="2600" dirty="0">
                <a:solidFill>
                  <a:srgbClr val="0077A8"/>
                </a:solidFill>
              </a:rPr>
              <a:t>⚡</a:t>
            </a:r>
            <a:endParaRPr lang="en-US" sz="2600" dirty="0"/>
          </a:p>
        </p:txBody>
      </p:sp>
      <p:sp>
        <p:nvSpPr>
          <p:cNvPr id="76" name="Text 68"/>
          <p:cNvSpPr/>
          <p:nvPr/>
        </p:nvSpPr>
        <p:spPr>
          <a:xfrm>
            <a:off x="26261568" y="17026128"/>
            <a:ext cx="10927080" cy="868680"/>
          </a:xfrm>
          <a:prstGeom prst="rect">
            <a:avLst/>
          </a:prstGeom>
          <a:noFill/>
          <a:ln/>
        </p:spPr>
        <p:txBody>
          <a:bodyPr wrap="square" lIns="0" tIns="0" rIns="0" bIns="0" rtlCol="0" anchor="ctr"/>
          <a:lstStyle/>
          <a:p>
            <a:pPr algn="l" indent="0" marL="0">
              <a:buNone/>
            </a:pPr>
            <a:r>
              <a:rPr lang="en-US" sz="2000" dirty="0">
                <a:solidFill>
                  <a:srgbClr val="1A202C"/>
                </a:solidFill>
              </a:rPr>
              <a:t>Quantum tunneling advantage confirmed: D-Wave Hybrid solved Medium where all 100 SA runs failed, achieving E = 0 on a single attempt.</a:t>
            </a:r>
            <a:endParaRPr lang="en-US" sz="2000" dirty="0"/>
          </a:p>
        </p:txBody>
      </p:sp>
      <p:sp>
        <p:nvSpPr>
          <p:cNvPr id="77" name="Text 69"/>
          <p:cNvSpPr/>
          <p:nvPr/>
        </p:nvSpPr>
        <p:spPr>
          <a:xfrm>
            <a:off x="25712928" y="18031968"/>
            <a:ext cx="502920" cy="868680"/>
          </a:xfrm>
          <a:prstGeom prst="rect">
            <a:avLst/>
          </a:prstGeom>
          <a:noFill/>
          <a:ln/>
        </p:spPr>
        <p:txBody>
          <a:bodyPr wrap="square" lIns="0" tIns="0" rIns="0" bIns="0" rtlCol="0" anchor="ctr"/>
          <a:lstStyle/>
          <a:p>
            <a:pPr algn="ctr" indent="0" marL="0">
              <a:buNone/>
            </a:pPr>
            <a:r>
              <a:rPr lang="en-US" sz="2600" dirty="0">
                <a:solidFill>
                  <a:srgbClr val="0077A8"/>
                </a:solidFill>
              </a:rPr>
              <a:t>✔</a:t>
            </a:r>
            <a:endParaRPr lang="en-US" sz="2600" dirty="0"/>
          </a:p>
        </p:txBody>
      </p:sp>
      <p:sp>
        <p:nvSpPr>
          <p:cNvPr id="78" name="Text 70"/>
          <p:cNvSpPr/>
          <p:nvPr/>
        </p:nvSpPr>
        <p:spPr>
          <a:xfrm>
            <a:off x="26261568" y="18031968"/>
            <a:ext cx="10927080" cy="868680"/>
          </a:xfrm>
          <a:prstGeom prst="rect">
            <a:avLst/>
          </a:prstGeom>
          <a:noFill/>
          <a:ln/>
        </p:spPr>
        <p:txBody>
          <a:bodyPr wrap="square" lIns="0" tIns="0" rIns="0" bIns="0" rtlCol="0" anchor="ctr"/>
          <a:lstStyle/>
          <a:p>
            <a:pPr algn="l" indent="0" marL="0">
              <a:buNone/>
            </a:pPr>
            <a:r>
              <a:rPr lang="en-US" sz="2000" dirty="0">
                <a:solidFill>
                  <a:srgbClr val="1A202C"/>
                </a:solidFill>
              </a:rPr>
              <a:t>Advantage2 QPU: 100% on Easy · 99.4% on Medium · 76.1% ± 12.7% on Hard — embedding complexity limits hard instances.</a:t>
            </a:r>
            <a:endParaRPr lang="en-US" sz="2000" dirty="0"/>
          </a:p>
        </p:txBody>
      </p:sp>
      <p:sp>
        <p:nvSpPr>
          <p:cNvPr id="79" name="Text 71"/>
          <p:cNvSpPr/>
          <p:nvPr/>
        </p:nvSpPr>
        <p:spPr>
          <a:xfrm>
            <a:off x="25712928" y="19037808"/>
            <a:ext cx="502920" cy="868680"/>
          </a:xfrm>
          <a:prstGeom prst="rect">
            <a:avLst/>
          </a:prstGeom>
          <a:noFill/>
          <a:ln/>
        </p:spPr>
        <p:txBody>
          <a:bodyPr wrap="square" lIns="0" tIns="0" rIns="0" bIns="0" rtlCol="0" anchor="ctr"/>
          <a:lstStyle/>
          <a:p>
            <a:pPr algn="ctr" indent="0" marL="0">
              <a:buNone/>
            </a:pPr>
            <a:r>
              <a:rPr lang="en-US" sz="2600" dirty="0">
                <a:solidFill>
                  <a:srgbClr val="C0392B"/>
                </a:solidFill>
              </a:rPr>
              <a:t>⚠</a:t>
            </a:r>
            <a:endParaRPr lang="en-US" sz="2600" dirty="0"/>
          </a:p>
        </p:txBody>
      </p:sp>
      <p:sp>
        <p:nvSpPr>
          <p:cNvPr id="80" name="Text 72"/>
          <p:cNvSpPr/>
          <p:nvPr/>
        </p:nvSpPr>
        <p:spPr>
          <a:xfrm>
            <a:off x="26261568" y="19037808"/>
            <a:ext cx="10927080" cy="868680"/>
          </a:xfrm>
          <a:prstGeom prst="rect">
            <a:avLst/>
          </a:prstGeom>
          <a:noFill/>
          <a:ln/>
        </p:spPr>
        <p:txBody>
          <a:bodyPr wrap="square" lIns="0" tIns="0" rIns="0" bIns="0" rtlCol="0" anchor="ctr"/>
          <a:lstStyle/>
          <a:p>
            <a:pPr algn="l" indent="0" marL="0">
              <a:buNone/>
            </a:pPr>
            <a:r>
              <a:rPr lang="en-US" sz="2000" dirty="0">
                <a:solidFill>
                  <a:srgbClr val="1A202C"/>
                </a:solidFill>
              </a:rPr>
              <a:t>Both solvers failed on 17-clue Sudoku (E = 4): extreme constraint sparsity creates energy landscapes beyond current hardware.</a:t>
            </a:r>
            <a:endParaRPr lang="en-US" sz="2000" dirty="0"/>
          </a:p>
        </p:txBody>
      </p:sp>
      <p:sp>
        <p:nvSpPr>
          <p:cNvPr id="81" name="Text 73"/>
          <p:cNvSpPr/>
          <p:nvPr/>
        </p:nvSpPr>
        <p:spPr>
          <a:xfrm>
            <a:off x="25712928" y="20043648"/>
            <a:ext cx="502920" cy="868680"/>
          </a:xfrm>
          <a:prstGeom prst="rect">
            <a:avLst/>
          </a:prstGeom>
          <a:noFill/>
          <a:ln/>
        </p:spPr>
        <p:txBody>
          <a:bodyPr wrap="square" lIns="0" tIns="0" rIns="0" bIns="0" rtlCol="0" anchor="ctr"/>
          <a:lstStyle/>
          <a:p>
            <a:pPr algn="ctr" indent="0" marL="0">
              <a:buNone/>
            </a:pPr>
            <a:r>
              <a:rPr lang="en-US" sz="2600" dirty="0">
                <a:solidFill>
                  <a:srgbClr val="3D4F60"/>
                </a:solidFill>
              </a:rPr>
              <a:t>⏱</a:t>
            </a:r>
            <a:endParaRPr lang="en-US" sz="2600" dirty="0"/>
          </a:p>
        </p:txBody>
      </p:sp>
      <p:sp>
        <p:nvSpPr>
          <p:cNvPr id="82" name="Text 74"/>
          <p:cNvSpPr/>
          <p:nvPr/>
        </p:nvSpPr>
        <p:spPr>
          <a:xfrm>
            <a:off x="26261568" y="20043648"/>
            <a:ext cx="10927080" cy="868680"/>
          </a:xfrm>
          <a:prstGeom prst="rect">
            <a:avLst/>
          </a:prstGeom>
          <a:noFill/>
          <a:ln/>
        </p:spPr>
        <p:txBody>
          <a:bodyPr wrap="square" lIns="0" tIns="0" rIns="0" bIns="0" rtlCol="0" anchor="ctr"/>
          <a:lstStyle/>
          <a:p>
            <a:pPr algn="l" indent="0" marL="0">
              <a:buNone/>
            </a:pPr>
            <a:r>
              <a:rPr lang="en-US" sz="2000" dirty="0">
                <a:solidFill>
                  <a:srgbClr val="1A202C"/>
                </a:solidFill>
              </a:rPr>
              <a:t>Hybrid averaged 1.72s vs. SA’s 1.96s — no quantum overhead penalty at this scale.</a:t>
            </a:r>
            <a:endParaRPr lang="en-US" sz="2000" dirty="0"/>
          </a:p>
        </p:txBody>
      </p:sp>
      <p:sp>
        <p:nvSpPr>
          <p:cNvPr id="83" name="Shape 75"/>
          <p:cNvSpPr/>
          <p:nvPr/>
        </p:nvSpPr>
        <p:spPr>
          <a:xfrm>
            <a:off x="25511760" y="21488400"/>
            <a:ext cx="11887200" cy="5669280"/>
          </a:xfrm>
          <a:prstGeom prst="rect">
            <a:avLst/>
          </a:prstGeom>
          <a:solidFill>
            <a:srgbClr val="E8F4FA"/>
          </a:solidFill>
          <a:ln w="19050">
            <a:solidFill>
              <a:srgbClr val="B8D0E8"/>
            </a:solidFill>
            <a:prstDash val="solid"/>
          </a:ln>
        </p:spPr>
      </p:sp>
      <p:sp>
        <p:nvSpPr>
          <p:cNvPr id="84" name="Shape 76"/>
          <p:cNvSpPr/>
          <p:nvPr/>
        </p:nvSpPr>
        <p:spPr>
          <a:xfrm>
            <a:off x="25511760" y="21488400"/>
            <a:ext cx="11887200" cy="566928"/>
          </a:xfrm>
          <a:prstGeom prst="rect">
            <a:avLst/>
          </a:prstGeom>
          <a:solidFill>
            <a:srgbClr val="0D1B4B"/>
          </a:solidFill>
          <a:ln w="12700">
            <a:solidFill>
              <a:srgbClr val="0D1B4B"/>
            </a:solidFill>
            <a:prstDash val="solid"/>
          </a:ln>
        </p:spPr>
      </p:sp>
      <p:sp>
        <p:nvSpPr>
          <p:cNvPr id="85" name="Text 77"/>
          <p:cNvSpPr/>
          <p:nvPr/>
        </p:nvSpPr>
        <p:spPr>
          <a:xfrm>
            <a:off x="25676352" y="21488400"/>
            <a:ext cx="11704320" cy="566928"/>
          </a:xfrm>
          <a:prstGeom prst="rect">
            <a:avLst/>
          </a:prstGeom>
          <a:noFill/>
          <a:ln/>
        </p:spPr>
        <p:txBody>
          <a:bodyPr wrap="square" lIns="0" tIns="0" rIns="0" bIns="0" rtlCol="0" anchor="ctr"/>
          <a:lstStyle/>
          <a:p>
            <a:pPr algn="l" indent="0" marL="0">
              <a:buNone/>
            </a:pPr>
            <a:r>
              <a:rPr lang="en-US" sz="2600" b="1" spc="200" kern="0" dirty="0">
                <a:solidFill>
                  <a:srgbClr val="FFFFFF"/>
                </a:solidFill>
              </a:rPr>
              <a:t>CONCLUSIONS</a:t>
            </a:r>
            <a:endParaRPr lang="en-US" sz="2600" dirty="0"/>
          </a:p>
        </p:txBody>
      </p:sp>
      <p:sp>
        <p:nvSpPr>
          <p:cNvPr id="86" name="Text 78"/>
          <p:cNvSpPr/>
          <p:nvPr/>
        </p:nvSpPr>
        <p:spPr>
          <a:xfrm>
            <a:off x="25694640" y="22146768"/>
            <a:ext cx="11567160" cy="4919472"/>
          </a:xfrm>
          <a:prstGeom prst="rect">
            <a:avLst/>
          </a:prstGeom>
          <a:noFill/>
          <a:ln/>
        </p:spPr>
        <p:txBody>
          <a:bodyPr wrap="square" rtlCol="0" anchor="t"/>
          <a:lstStyle/>
          <a:p>
            <a:pPr algn="l" indent="0" marL="0">
              <a:buNone/>
            </a:pPr>
            <a:r>
              <a:rPr lang="en-US" sz="2200" dirty="0">
                <a:solidFill>
                  <a:srgbClr val="000000"/>
                </a:solidFill>
              </a:rPr>
              <a:t>• QUBO correctly encodes all four Sudoku constraints; E = 0 guarantees a valid solution.
</a:t>
            </a:r>
            <a:endParaRPr lang="en-US" sz="2200" dirty="0"/>
          </a:p>
          <a:p>
            <a:pPr algn="l" indent="0" marL="0">
              <a:buNone/>
            </a:pPr>
            <a:r>
              <a:rPr lang="en-US" sz="2200" dirty="0">
                <a:solidFill>
                  <a:srgbClr val="000000"/>
                </a:solidFill>
              </a:rPr>
              <a:t>• D-Wave Hybrid BQM Solver solved 2/3 test puzzles vs. SA’s 1/3 — practical quantum advantage demonstrated.
</a:t>
            </a:r>
            <a:endParaRPr lang="en-US" sz="2200" dirty="0"/>
          </a:p>
          <a:p>
            <a:pPr algn="l" indent="0" marL="0">
              <a:buNone/>
            </a:pPr>
            <a:r>
              <a:rPr lang="en-US" sz="2200" dirty="0">
                <a:solidFill>
                  <a:srgbClr val="000000"/>
                </a:solidFill>
              </a:rPr>
              <a:t>• Advantage2 QPU matches SA on easy instances; embedding complexity limits harder ones.
</a:t>
            </a:r>
            <a:endParaRPr lang="en-US" sz="2200" dirty="0"/>
          </a:p>
          <a:p>
            <a:pPr algn="l" indent="0" marL="0">
              <a:buNone/>
            </a:pPr>
            <a:r>
              <a:rPr lang="en-US" sz="2200" dirty="0">
                <a:solidFill>
                  <a:srgbClr val="000000"/>
                </a:solidFill>
              </a:rPr>
              <a:t>• Given-cell elimination reduces 9×9 variables by 37% (729→459 free vars) — essential for feasible embedding.
</a:t>
            </a:r>
            <a:endParaRPr lang="en-US" sz="2200" dirty="0"/>
          </a:p>
          <a:p>
            <a:pPr algn="l" indent="0" marL="0">
              <a:buNone/>
            </a:pPr>
            <a:r>
              <a:rPr lang="en-US" sz="2200" dirty="0">
                <a:solidFill>
                  <a:srgbClr val="000000"/>
                </a:solidFill>
              </a:rPr>
              <a:t>• Execution times competitive: hybrid 1.72s vs. SA 1.96s — quantum overhead is not a barrier.</a:t>
            </a:r>
            <a:endParaRPr lang="en-US" sz="2200" dirty="0"/>
          </a:p>
        </p:txBody>
      </p:sp>
      <p:sp>
        <p:nvSpPr>
          <p:cNvPr id="87" name="Shape 79"/>
          <p:cNvSpPr/>
          <p:nvPr/>
        </p:nvSpPr>
        <p:spPr>
          <a:xfrm>
            <a:off x="25511760" y="27340560"/>
            <a:ext cx="11887200" cy="3977640"/>
          </a:xfrm>
          <a:prstGeom prst="rect">
            <a:avLst/>
          </a:prstGeom>
          <a:solidFill>
            <a:srgbClr val="E8F4FA"/>
          </a:solidFill>
          <a:ln w="19050">
            <a:solidFill>
              <a:srgbClr val="B8D0E8"/>
            </a:solidFill>
            <a:prstDash val="solid"/>
          </a:ln>
        </p:spPr>
      </p:sp>
      <p:sp>
        <p:nvSpPr>
          <p:cNvPr id="88" name="Shape 80"/>
          <p:cNvSpPr/>
          <p:nvPr/>
        </p:nvSpPr>
        <p:spPr>
          <a:xfrm>
            <a:off x="25511760" y="27340560"/>
            <a:ext cx="11887200" cy="566928"/>
          </a:xfrm>
          <a:prstGeom prst="rect">
            <a:avLst/>
          </a:prstGeom>
          <a:solidFill>
            <a:srgbClr val="0D1B4B"/>
          </a:solidFill>
          <a:ln w="12700">
            <a:solidFill>
              <a:srgbClr val="0D1B4B"/>
            </a:solidFill>
            <a:prstDash val="solid"/>
          </a:ln>
        </p:spPr>
      </p:sp>
      <p:sp>
        <p:nvSpPr>
          <p:cNvPr id="89" name="Text 81"/>
          <p:cNvSpPr/>
          <p:nvPr/>
        </p:nvSpPr>
        <p:spPr>
          <a:xfrm>
            <a:off x="25676352" y="27340560"/>
            <a:ext cx="11704320" cy="566928"/>
          </a:xfrm>
          <a:prstGeom prst="rect">
            <a:avLst/>
          </a:prstGeom>
          <a:noFill/>
          <a:ln/>
        </p:spPr>
        <p:txBody>
          <a:bodyPr wrap="square" lIns="0" tIns="0" rIns="0" bIns="0" rtlCol="0" anchor="ctr"/>
          <a:lstStyle/>
          <a:p>
            <a:pPr algn="l" indent="0" marL="0">
              <a:buNone/>
            </a:pPr>
            <a:r>
              <a:rPr lang="en-US" sz="2600" b="1" spc="200" kern="0" dirty="0">
                <a:solidFill>
                  <a:srgbClr val="FFFFFF"/>
                </a:solidFill>
              </a:rPr>
              <a:t>FUTURE DIRECTIONS</a:t>
            </a:r>
            <a:endParaRPr lang="en-US" sz="2600" dirty="0"/>
          </a:p>
        </p:txBody>
      </p:sp>
      <p:sp>
        <p:nvSpPr>
          <p:cNvPr id="90" name="Text 82"/>
          <p:cNvSpPr/>
          <p:nvPr/>
        </p:nvSpPr>
        <p:spPr>
          <a:xfrm>
            <a:off x="25694640" y="27998928"/>
            <a:ext cx="11567160" cy="3227832"/>
          </a:xfrm>
          <a:prstGeom prst="rect">
            <a:avLst/>
          </a:prstGeom>
          <a:noFill/>
          <a:ln/>
        </p:spPr>
        <p:txBody>
          <a:bodyPr wrap="square" rtlCol="0" anchor="t"/>
          <a:lstStyle/>
          <a:p>
            <a:pPr algn="l" indent="0" marL="0">
              <a:buNone/>
            </a:pPr>
            <a:r>
              <a:rPr lang="en-US" sz="2200" dirty="0">
                <a:solidFill>
                  <a:srgbClr val="000000"/>
                </a:solidFill>
              </a:rPr>
              <a:t>• Penalty weight optimization per constraint type (λ₁…λ₄ tuning)
</a:t>
            </a:r>
            <a:endParaRPr lang="en-US" sz="2200" dirty="0"/>
          </a:p>
          <a:p>
            <a:pPr algn="l" indent="0" marL="0">
              <a:buNone/>
            </a:pPr>
            <a:r>
              <a:rPr lang="en-US" sz="2200" dirty="0">
                <a:solidFill>
                  <a:srgbClr val="000000"/>
                </a:solidFill>
              </a:rPr>
              <a:t>• Domain-wall encoding to further reduce variable count below one-hot
</a:t>
            </a:r>
            <a:endParaRPr lang="en-US" sz="2200" dirty="0"/>
          </a:p>
          <a:p>
            <a:pPr algn="l" indent="0" marL="0">
              <a:buNone/>
            </a:pPr>
            <a:r>
              <a:rPr lang="en-US" sz="2200" dirty="0">
                <a:solidFill>
                  <a:srgbClr val="000000"/>
                </a:solidFill>
              </a:rPr>
              <a:t>• Direct Advantage QPU access for full 9×9 benchmarks
</a:t>
            </a:r>
            <a:endParaRPr lang="en-US" sz="2200" dirty="0"/>
          </a:p>
          <a:p>
            <a:pPr algn="l" indent="0" marL="0">
              <a:buNone/>
            </a:pPr>
            <a:r>
              <a:rPr lang="en-US" sz="2200" dirty="0">
                <a:solidFill>
                  <a:srgbClr val="000000"/>
                </a:solidFill>
              </a:rPr>
              <a:t>• Systematic benchmarking across full puzzle difficulty distributions
</a:t>
            </a:r>
            <a:endParaRPr lang="en-US" sz="2200" dirty="0"/>
          </a:p>
          <a:p>
            <a:pPr algn="l" indent="0" marL="0">
              <a:buNone/>
            </a:pPr>
            <a:r>
              <a:rPr lang="en-US" sz="2200" dirty="0">
                <a:solidFill>
                  <a:srgbClr val="000000"/>
                </a:solidFill>
              </a:rPr>
              <a:t>• Hybrid decomposition strategies for larger grid sizes (16×16 and beyond)</a:t>
            </a:r>
            <a:endParaRPr lang="en-US" sz="2200" dirty="0"/>
          </a:p>
        </p:txBody>
      </p:sp>
      <p:sp>
        <p:nvSpPr>
          <p:cNvPr id="91" name="Shape 83"/>
          <p:cNvSpPr/>
          <p:nvPr/>
        </p:nvSpPr>
        <p:spPr>
          <a:xfrm>
            <a:off x="0" y="31455360"/>
            <a:ext cx="38404800" cy="1463040"/>
          </a:xfrm>
          <a:prstGeom prst="rect">
            <a:avLst/>
          </a:prstGeom>
          <a:solidFill>
            <a:srgbClr val="0D1B4B"/>
          </a:solidFill>
          <a:ln w="12700">
            <a:solidFill>
              <a:srgbClr val="0D1B4B"/>
            </a:solidFill>
            <a:prstDash val="solid"/>
          </a:ln>
        </p:spPr>
      </p:sp>
      <p:sp>
        <p:nvSpPr>
          <p:cNvPr id="92" name="Shape 84"/>
          <p:cNvSpPr/>
          <p:nvPr/>
        </p:nvSpPr>
        <p:spPr>
          <a:xfrm>
            <a:off x="0" y="31455360"/>
            <a:ext cx="38404800" cy="91440"/>
          </a:xfrm>
          <a:prstGeom prst="rect">
            <a:avLst/>
          </a:prstGeom>
          <a:solidFill>
            <a:srgbClr val="00B4D8"/>
          </a:solidFill>
          <a:ln w="12700">
            <a:solidFill>
              <a:srgbClr val="00B4D8"/>
            </a:solidFill>
            <a:prstDash val="solid"/>
          </a:ln>
        </p:spPr>
      </p:sp>
      <p:sp>
        <p:nvSpPr>
          <p:cNvPr id="93" name="Text 85"/>
          <p:cNvSpPr/>
          <p:nvPr/>
        </p:nvSpPr>
        <p:spPr>
          <a:xfrm>
            <a:off x="548640" y="31546800"/>
            <a:ext cx="35204400" cy="1280160"/>
          </a:xfrm>
          <a:prstGeom prst="rect">
            <a:avLst/>
          </a:prstGeom>
          <a:noFill/>
          <a:ln/>
        </p:spPr>
        <p:txBody>
          <a:bodyPr wrap="square" lIns="0" tIns="0" rIns="0" bIns="0" rtlCol="0" anchor="ctr"/>
          <a:lstStyle/>
          <a:p>
            <a:pPr algn="l" indent="0" marL="0">
              <a:buNone/>
            </a:pPr>
            <a:r>
              <a:rPr lang="en-US" sz="2600" b="1" dirty="0">
                <a:solidFill>
                  <a:srgbClr val="00B4D8"/>
                </a:solidFill>
              </a:rPr>
              <a:t>Special Thanks:  </a:t>
            </a:r>
            <a:pPr algn="l" indent="0" marL="0">
              <a:buNone/>
            </a:pPr>
            <a:r>
              <a:rPr lang="en-US" sz="2600" dirty="0">
                <a:solidFill>
                  <a:srgbClr val="FFFFFF"/>
                </a:solidFill>
              </a:rPr>
              <a:t>Prof. Thang Dinh, Dept. of Computer Science, Virginia Commonwealth University — for guidance, resources, and D-Wave hardware access.</a:t>
            </a:r>
            <a:endParaRPr lang="en-US" sz="2600" dirty="0"/>
          </a:p>
        </p:txBody>
      </p:sp>
      <p:pic>
        <p:nvPicPr>
          <p:cNvPr id="94" name="Image 6" descr="figures/vectorized/qr_code.png">    </p:cNvPr>
          <p:cNvPicPr>
            <a:picLocks noChangeAspect="1"/>
          </p:cNvPicPr>
          <p:nvPr/>
        </p:nvPicPr>
        <p:blipFill>
          <a:blip r:embed="rId7"/>
          <a:stretch>
            <a:fillRect/>
          </a:stretch>
        </p:blipFill>
        <p:spPr>
          <a:xfrm>
            <a:off x="36393120" y="31546800"/>
            <a:ext cx="1737360" cy="17373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2026-03-27T02:37:42Z</dcterms:created>
  <dcterms:modified xsi:type="dcterms:W3CDTF">2026-03-27T02:37:42Z</dcterms:modified>
</cp:coreProperties>
</file>