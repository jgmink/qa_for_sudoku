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8404800" cy="32918400"/>
  <p:notesSz cx="32918400" cy="3840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0" cy="3840480"/>
          </a:xfrm>
          <a:prstGeom prst="rect">
            <a:avLst/>
          </a:prstGeom>
          <a:solidFill>
            <a:srgbClr val="0A1635"/>
          </a:solidFill>
          <a:ln w="12700">
            <a:solidFill>
              <a:srgbClr val="0A16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3840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01168"/>
            <a:ext cx="2926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Grid-Based Quantum Annealing for Sudoku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2926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QUBO Formulation of Sudoku as Graph Coloring  •  Benchmarked Against Classical Simulated Annealing  •  D-Wave Advantage2 QPU Validation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2743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Jonah Minkoff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2926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9BB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 ·  Virginia Commonwealth University  ·  minkoffjg@vcu.edu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089600" y="320040"/>
            <a:ext cx="6858000" cy="3200400"/>
          </a:xfrm>
          <a:prstGeom prst="rect">
            <a:avLst/>
          </a:prstGeom>
          <a:solidFill>
            <a:srgbClr val="0D1B4B"/>
          </a:solidFill>
          <a:ln w="381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00" y="5029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VCU</a:t>
            </a:r>
            <a:endParaRPr lang="en-US" sz="8800" dirty="0"/>
          </a:p>
        </p:txBody>
      </p:sp>
      <p:sp>
        <p:nvSpPr>
          <p:cNvPr id="10" name="Text 8"/>
          <p:cNvSpPr/>
          <p:nvPr/>
        </p:nvSpPr>
        <p:spPr>
          <a:xfrm>
            <a:off x="31089600" y="1920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0B4D8"/>
                </a:solidFill>
              </a:rPr>
              <a:t>COMPUTER SCIENCE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089600" y="24871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BBDD6"/>
                </a:solidFill>
              </a:rPr>
              <a:t>Virginia Commonwealth University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0" y="3840480"/>
            <a:ext cx="38404800" cy="1371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4206240"/>
            <a:ext cx="11887200" cy="9144000"/>
          </a:xfrm>
          <a:prstGeom prst="rect">
            <a:avLst/>
          </a:prstGeom>
          <a:solidFill>
            <a:srgbClr val="E8F4FA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06240"/>
            <a:ext cx="1188720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20624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INTRODUCTION &amp; MOTIVATION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11567160" cy="8394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00000"/>
                </a:solidFill>
              </a:rPr>
              <a:t>What is Sudoku?
</a:t>
            </a:r>
            <a:endParaRPr lang="en-US" sz="25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000000"/>
                </a:solidFill>
              </a:rPr>
              <a:t>Sudoku is a constraint satisfaction problem (CSP) modeled as graph coloring on an N×N grid: each cell receives exactly one digit 1–N such that no digit repeats in any row, column, or √N×√N box. It encodes the same constraint structure found in scheduling, resource allocation, and combinatorial optimization.
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000000"/>
                </a:solidFill>
              </a:rPr>
              <a:t>
Why Quantum Annealing?
</a:t>
            </a:r>
            <a:endParaRPr lang="en-US" sz="25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000000"/>
                </a:solidFill>
              </a:rPr>
              <a:t>Classical solvers (backtracking, constraint propagation, dancing links) solve 9×9 in milliseconds but scale poorly as constraints densify. Quantum annealing leverages quantum tunneling to escape local energy minima — ideal for constraint-heavy landscapes where classical methods get trapped.
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000000"/>
                </a:solidFill>
              </a:rPr>
              <a:t>
Goal
</a:t>
            </a:r>
            <a:endParaRPr lang="en-US" sz="25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000000"/>
                </a:solidFill>
              </a:rPr>
              <a:t>Derive a QUBO formulation for Sudoku from first principles, validate correctness via simulated annealing, then test on D-Wave’s Leap Hybrid BQM Solver and Advantage2 QPU. Benchmark scalability from 4×4 to 9×9, comparing quantum and classical methods on success rate and energy.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548640" y="13533120"/>
            <a:ext cx="11887200" cy="102870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3533120"/>
            <a:ext cx="11887200" cy="566928"/>
          </a:xfrm>
          <a:prstGeom prst="rect">
            <a:avLst/>
          </a:prstGeom>
          <a:solidFill>
            <a:srgbClr val="3D4F60"/>
          </a:solidFill>
          <a:ln w="12700">
            <a:solidFill>
              <a:srgbClr val="3D4F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353312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QUBO FORMULATION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731520" y="14282928"/>
            <a:ext cx="11521440" cy="1188720"/>
          </a:xfrm>
          <a:prstGeom prst="rect">
            <a:avLst/>
          </a:prstGeom>
          <a:solidFill>
            <a:srgbClr val="E8F4FA"/>
          </a:solidFill>
          <a:ln w="3175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14374368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00000"/>
                </a:solidFill>
              </a:rPr>
              <a:t>Binary Variable: </a:t>
            </a:r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</a:rPr>
              <a:t>x</a:t>
            </a:r>
            <a:pPr algn="l" indent="0" marL="0">
              <a:buNone/>
            </a:pPr>
            <a:r>
              <a:rPr lang="en-US" sz="1900" baseline="-500" dirty="0">
                <a:solidFill>
                  <a:srgbClr val="000000"/>
                </a:solidFill>
              </a:rPr>
              <a:t>i,j,k</a:t>
            </a:r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</a:rPr>
              <a:t> = 1  if cell (i,j) holds digit k+1,  else 0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822960" y="14950440"/>
            <a:ext cx="11338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3D4F60"/>
                </a:solidFill>
              </a:rPr>
              <a:t>4×4: 64 vars  |  9×9: 729 vars  |  9×9 with 30 givens: 459 free vars  (37% reduction via given-cell elimination)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31520" y="15636240"/>
            <a:ext cx="11521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02C"/>
                </a:solidFill>
              </a:rPr>
              <a:t>Energy Function  —  minimize to solve: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731520" y="16139160"/>
            <a:ext cx="11521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Eₜₒₜₐₗ = E₁ + E₂ + E₃ + E₄ = 0  ⇒  Valid Sudoku</a:t>
            </a:r>
            <a:endParaRPr lang="en-US" sz="3100" dirty="0"/>
          </a:p>
        </p:txBody>
      </p:sp>
      <p:sp>
        <p:nvSpPr>
          <p:cNvPr id="25" name="Shape 23"/>
          <p:cNvSpPr/>
          <p:nvPr/>
        </p:nvSpPr>
        <p:spPr>
          <a:xfrm>
            <a:off x="731520" y="16898112"/>
            <a:ext cx="2468880" cy="120700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16898112"/>
            <a:ext cx="24688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E₁  Cell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3218688" y="16898112"/>
            <a:ext cx="9034272" cy="1207008"/>
          </a:xfrm>
          <a:prstGeom prst="rect">
            <a:avLst/>
          </a:prstGeom>
          <a:solidFill>
            <a:srgbClr val="E8F4FA"/>
          </a:solidFill>
          <a:ln w="12700">
            <a:solidFill>
              <a:srgbClr val="B8D0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16898112"/>
            <a:ext cx="88513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Σᵢⱼ (Σₖ xᵢⱼₖ − 1)²
</a:t>
            </a:r>
            <a:endParaRPr lang="en-US" sz="2200" dirty="0"/>
          </a:p>
          <a:p>
            <a:pPr algn="l" indent="0" marL="0">
              <a:buNone/>
            </a:pPr>
            <a:r>
              <a:rPr lang="en-US" sz="2000" i="1" dirty="0">
                <a:solidFill>
                  <a:srgbClr val="3D4F60"/>
                </a:solidFill>
              </a:rPr>
              <a:t>each cell has exactly one digit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31520" y="18223992"/>
            <a:ext cx="2468880" cy="120700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18223992"/>
            <a:ext cx="24688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E₂  Row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3218688" y="18223992"/>
            <a:ext cx="9034272" cy="1207008"/>
          </a:xfrm>
          <a:prstGeom prst="rect">
            <a:avLst/>
          </a:prstGeom>
          <a:solidFill>
            <a:srgbClr val="E8F4FA"/>
          </a:solidFill>
          <a:ln w="12700">
            <a:solidFill>
              <a:srgbClr val="B8D0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0" y="18223992"/>
            <a:ext cx="88513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Σᵢₖ (Σⱼ xᵢⱼₖ − 1)²
</a:t>
            </a:r>
            <a:endParaRPr lang="en-US" sz="2200" dirty="0"/>
          </a:p>
          <a:p>
            <a:pPr algn="l" indent="0" marL="0">
              <a:buNone/>
            </a:pPr>
            <a:r>
              <a:rPr lang="en-US" sz="2000" i="1" dirty="0">
                <a:solidFill>
                  <a:srgbClr val="3D4F60"/>
                </a:solidFill>
              </a:rPr>
              <a:t>each digit appears once per row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731520" y="19549872"/>
            <a:ext cx="2468880" cy="120700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19549872"/>
            <a:ext cx="24688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E₃  Column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3218688" y="19549872"/>
            <a:ext cx="9034272" cy="1207008"/>
          </a:xfrm>
          <a:prstGeom prst="rect">
            <a:avLst/>
          </a:prstGeom>
          <a:solidFill>
            <a:srgbClr val="E8F4FA"/>
          </a:solidFill>
          <a:ln w="12700">
            <a:solidFill>
              <a:srgbClr val="B8D0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0" y="19549872"/>
            <a:ext cx="88513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Σⱼₖ (Σᵢ xᵢⱼₖ − 1)²
</a:t>
            </a:r>
            <a:endParaRPr lang="en-US" sz="2200" dirty="0"/>
          </a:p>
          <a:p>
            <a:pPr algn="l" indent="0" marL="0">
              <a:buNone/>
            </a:pPr>
            <a:r>
              <a:rPr lang="en-US" sz="2000" i="1" dirty="0">
                <a:solidFill>
                  <a:srgbClr val="3D4F60"/>
                </a:solidFill>
              </a:rPr>
              <a:t>each digit appears once per column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731520" y="20875752"/>
            <a:ext cx="2468880" cy="120700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20875752"/>
            <a:ext cx="24688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E₄  Box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3218688" y="20875752"/>
            <a:ext cx="9034272" cy="1207008"/>
          </a:xfrm>
          <a:prstGeom prst="rect">
            <a:avLst/>
          </a:prstGeom>
          <a:solidFill>
            <a:srgbClr val="E8F4FA"/>
          </a:solidFill>
          <a:ln w="12700">
            <a:solidFill>
              <a:srgbClr val="B8D0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3280" y="20875752"/>
            <a:ext cx="88513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Σʙₒˣ,ₖ (Σ₍ᵢ,ⱼ₎∈ʙₒˣ xᵢⱼₖ − 1)²
</a:t>
            </a:r>
            <a:endParaRPr lang="en-US" sz="2200" dirty="0"/>
          </a:p>
          <a:p>
            <a:pPr algn="l" indent="0" marL="0">
              <a:buNone/>
            </a:pPr>
            <a:r>
              <a:rPr lang="en-US" sz="2000" i="1" dirty="0">
                <a:solidFill>
                  <a:srgbClr val="3D4F60"/>
                </a:solidFill>
              </a:rPr>
              <a:t>each digit appears once per √N×√N box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31520" y="23591520"/>
            <a:ext cx="11521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3D4F60"/>
                </a:solidFill>
              </a:rPr>
              <a:t>Lagrange multipliers: λ₁=λ₂=λ₃=λ₄=1.0  ·  Diagonal: −1  ·  Off-diagonal: +2  ·  QUBO sparsity: 90.6% zeros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548640" y="24003000"/>
            <a:ext cx="11887200" cy="73152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24003000"/>
            <a:ext cx="1188720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2400300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ONE-HOT ENCODING</a:t>
            </a:r>
            <a:endParaRPr lang="en-US" sz="2600" dirty="0"/>
          </a:p>
        </p:txBody>
      </p:sp>
      <p:pic>
        <p:nvPicPr>
          <p:cNvPr id="45" name="Image 0" descr="figures/vectorized/fig2_onehot_matrix_hires-1.png">    </p:cNvPr>
          <p:cNvPicPr>
            <a:picLocks noChangeAspect="1"/>
          </p:cNvPicPr>
          <p:nvPr/>
        </p:nvPicPr>
        <p:blipFill>
          <a:blip r:embed="rId1"/>
          <a:srcRect l="-40754" r="-40754" t="0" b="0"/>
          <a:stretch/>
        </p:blipFill>
        <p:spPr>
          <a:xfrm>
            <a:off x="658368" y="24688800"/>
            <a:ext cx="11667744" cy="6428232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13030200" y="4206240"/>
            <a:ext cx="11887200" cy="6400800"/>
          </a:xfrm>
          <a:prstGeom prst="rect">
            <a:avLst/>
          </a:prstGeom>
          <a:solidFill>
            <a:srgbClr val="E8F4FA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3030200" y="4206240"/>
            <a:ext cx="1188720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3194792" y="420624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METHODOLOGY</a:t>
            </a:r>
            <a:endParaRPr lang="en-US" sz="2600" dirty="0"/>
          </a:p>
        </p:txBody>
      </p:sp>
      <p:pic>
        <p:nvPicPr>
          <p:cNvPr id="49" name="Image 1" descr="figures/vectorized/dwave_qpu_box.jpg">    </p:cNvPr>
          <p:cNvPicPr>
            <a:picLocks noChangeAspect="1"/>
          </p:cNvPicPr>
          <p:nvPr/>
        </p:nvPicPr>
        <p:blipFill>
          <a:blip r:embed="rId2"/>
          <a:srcRect l="-1000" r="-1000" t="0" b="0"/>
          <a:stretch/>
        </p:blipFill>
        <p:spPr>
          <a:xfrm>
            <a:off x="20071080" y="4919472"/>
            <a:ext cx="4663440" cy="4572000"/>
          </a:xfrm>
          <a:prstGeom prst="rect">
            <a:avLst/>
          </a:prstGeom>
        </p:spPr>
      </p:pic>
      <p:sp>
        <p:nvSpPr>
          <p:cNvPr id="50" name="Text 46"/>
          <p:cNvSpPr/>
          <p:nvPr/>
        </p:nvSpPr>
        <p:spPr>
          <a:xfrm>
            <a:off x="20071080" y="95280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D4F60"/>
                </a:solidFill>
              </a:rPr>
              <a:t>D-Wave Advantage2</a:t>
            </a:r>
            <a:endParaRPr lang="en-US" sz="1700" dirty="0"/>
          </a:p>
        </p:txBody>
      </p:sp>
      <p:sp>
        <p:nvSpPr>
          <p:cNvPr id="51" name="Text 47"/>
          <p:cNvSpPr/>
          <p:nvPr/>
        </p:nvSpPr>
        <p:spPr>
          <a:xfrm>
            <a:off x="13213080" y="4864608"/>
            <a:ext cx="6675120" cy="5623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Solvers Evaluated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Simulated Annealing (D-Wave neal)
  100 reads, 1000 sweeps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D-Wave Leap Hybrid BQM v2.2
  9-second time limit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D-Wave Advantage2 QPU
  1,000 reads · 200 µs · forward annealing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QAOA (Qiskit) — 2×2 only
  p=2, 2048 shots, COBYLA
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Test Cases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4×4 blank (64 vars) — correctness baseline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9×9 Easy   30 givens → 459 vars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9×9 Medium  25 givens → 504 vars
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• 9×9 Hard    17 givens → 576 vars</a:t>
            </a:r>
            <a:endParaRPr lang="en-US" sz="2400" dirty="0"/>
          </a:p>
        </p:txBody>
      </p:sp>
      <p:sp>
        <p:nvSpPr>
          <p:cNvPr id="52" name="Shape 48"/>
          <p:cNvSpPr/>
          <p:nvPr/>
        </p:nvSpPr>
        <p:spPr>
          <a:xfrm>
            <a:off x="13030200" y="10789920"/>
            <a:ext cx="11887200" cy="1161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030200" y="10789920"/>
            <a:ext cx="1188720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13194792" y="1078992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QUBO COEFFICIENT MATRIX (4×4 SUDOKU, 64×64)</a:t>
            </a:r>
            <a:endParaRPr lang="en-US" sz="2600" dirty="0"/>
          </a:p>
        </p:txBody>
      </p:sp>
      <p:pic>
        <p:nvPicPr>
          <p:cNvPr id="55" name="Image 2" descr="figures/vectorized/fig4_qubo_matrix_hires-1.png">    </p:cNvPr>
          <p:cNvPicPr>
            <a:picLocks noChangeAspect="1"/>
          </p:cNvPicPr>
          <p:nvPr/>
        </p:nvPicPr>
        <p:blipFill>
          <a:blip r:embed="rId3"/>
          <a:srcRect l="-4390" r="-4390" t="0" b="0"/>
          <a:stretch/>
        </p:blipFill>
        <p:spPr>
          <a:xfrm>
            <a:off x="13139928" y="11475720"/>
            <a:ext cx="11667744" cy="10725912"/>
          </a:xfrm>
          <a:prstGeom prst="rect">
            <a:avLst/>
          </a:prstGeom>
        </p:spPr>
      </p:pic>
      <p:sp>
        <p:nvSpPr>
          <p:cNvPr id="56" name="Shape 51"/>
          <p:cNvSpPr/>
          <p:nvPr/>
        </p:nvSpPr>
        <p:spPr>
          <a:xfrm>
            <a:off x="13030200" y="22585680"/>
            <a:ext cx="11887200" cy="8732520"/>
          </a:xfrm>
          <a:prstGeom prst="rect">
            <a:avLst/>
          </a:prstGeom>
          <a:solidFill>
            <a:srgbClr val="FFFFFF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13030200" y="22585680"/>
            <a:ext cx="1188720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13194792" y="2258568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VARIABLE REDUCTION VIA GIVEN-CELL ELIMINATION</a:t>
            </a:r>
            <a:endParaRPr lang="en-US" sz="2600" dirty="0"/>
          </a:p>
        </p:txBody>
      </p:sp>
      <p:pic>
        <p:nvPicPr>
          <p:cNvPr id="59" name="Image 3" descr="figures/vectorized/fig3_compression_hires-1.png">    </p:cNvPr>
          <p:cNvPicPr>
            <a:picLocks noChangeAspect="1"/>
          </p:cNvPicPr>
          <p:nvPr/>
        </p:nvPicPr>
        <p:blipFill>
          <a:blip r:embed="rId4"/>
          <a:srcRect l="-24359" r="-24359" t="0" b="0"/>
          <a:stretch/>
        </p:blipFill>
        <p:spPr>
          <a:xfrm>
            <a:off x="13139928" y="23271480"/>
            <a:ext cx="11667744" cy="7845552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25511760" y="4206240"/>
            <a:ext cx="11887200" cy="6400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25511760" y="4206240"/>
            <a:ext cx="1188720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62" name="Text 56"/>
          <p:cNvSpPr/>
          <p:nvPr/>
        </p:nvSpPr>
        <p:spPr>
          <a:xfrm>
            <a:off x="25676352" y="420624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SUDOKU TEST PUZZLES</a:t>
            </a:r>
            <a:endParaRPr lang="en-US" sz="2600" dirty="0"/>
          </a:p>
        </p:txBody>
      </p:sp>
      <p:pic>
        <p:nvPicPr>
          <p:cNvPr id="63" name="Image 4" descr="figures/vectorized/fig1_sudoku_puzzles_hires-1.png">    </p:cNvPr>
          <p:cNvPicPr>
            <a:picLocks noChangeAspect="1"/>
          </p:cNvPicPr>
          <p:nvPr/>
        </p:nvPicPr>
        <p:blipFill>
          <a:blip r:embed="rId5"/>
          <a:srcRect l="-55804" r="-55804" t="0" b="0"/>
          <a:stretch/>
        </p:blipFill>
        <p:spPr>
          <a:xfrm>
            <a:off x="25621488" y="4892040"/>
            <a:ext cx="11667744" cy="5513832"/>
          </a:xfrm>
          <a:prstGeom prst="rect">
            <a:avLst/>
          </a:prstGeom>
        </p:spPr>
      </p:pic>
      <p:sp>
        <p:nvSpPr>
          <p:cNvPr id="64" name="Shape 57"/>
          <p:cNvSpPr/>
          <p:nvPr/>
        </p:nvSpPr>
        <p:spPr>
          <a:xfrm>
            <a:off x="25511760" y="10789920"/>
            <a:ext cx="11887200" cy="54864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25511760" y="10789920"/>
            <a:ext cx="1188720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66" name="Text 59"/>
          <p:cNvSpPr/>
          <p:nvPr/>
        </p:nvSpPr>
        <p:spPr>
          <a:xfrm>
            <a:off x="25676352" y="1078992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RESULTS: D-WAVE QPU VS. SIMULATED ANNEALING</a:t>
            </a:r>
            <a:endParaRPr lang="en-US" sz="2600" dirty="0"/>
          </a:p>
        </p:txBody>
      </p:sp>
      <p:pic>
        <p:nvPicPr>
          <p:cNvPr id="67" name="Image 5" descr="figures/vectorized/fig5_comparison_table_hires-1.png">    </p:cNvPr>
          <p:cNvPicPr>
            <a:picLocks noChangeAspect="1"/>
          </p:cNvPicPr>
          <p:nvPr/>
        </p:nvPicPr>
        <p:blipFill>
          <a:blip r:embed="rId6"/>
          <a:srcRect l="-76839" r="-76839" t="0" b="0"/>
          <a:stretch/>
        </p:blipFill>
        <p:spPr>
          <a:xfrm>
            <a:off x="25621488" y="11475720"/>
            <a:ext cx="11667744" cy="4599432"/>
          </a:xfrm>
          <a:prstGeom prst="rect">
            <a:avLst/>
          </a:prstGeom>
        </p:spPr>
      </p:pic>
      <p:sp>
        <p:nvSpPr>
          <p:cNvPr id="68" name="Shape 60"/>
          <p:cNvSpPr/>
          <p:nvPr/>
        </p:nvSpPr>
        <p:spPr>
          <a:xfrm>
            <a:off x="25511760" y="16459200"/>
            <a:ext cx="11887200" cy="6400800"/>
          </a:xfrm>
          <a:prstGeom prst="rect">
            <a:avLst/>
          </a:prstGeom>
          <a:solidFill>
            <a:srgbClr val="E8F4FA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69" name="Shape 61"/>
          <p:cNvSpPr/>
          <p:nvPr/>
        </p:nvSpPr>
        <p:spPr>
          <a:xfrm>
            <a:off x="25511760" y="16459200"/>
            <a:ext cx="11887200" cy="566928"/>
          </a:xfrm>
          <a:prstGeom prst="rect">
            <a:avLst/>
          </a:prstGeom>
          <a:solidFill>
            <a:srgbClr val="3D4F60"/>
          </a:solidFill>
          <a:ln w="12700">
            <a:solidFill>
              <a:srgbClr val="3D4F60"/>
            </a:solidFill>
            <a:prstDash val="solid"/>
          </a:ln>
        </p:spPr>
      </p:sp>
      <p:sp>
        <p:nvSpPr>
          <p:cNvPr id="70" name="Text 62"/>
          <p:cNvSpPr/>
          <p:nvPr/>
        </p:nvSpPr>
        <p:spPr>
          <a:xfrm>
            <a:off x="25676352" y="1645920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KEY OBSERVATIONS</a:t>
            </a:r>
            <a:endParaRPr lang="en-US" sz="2600" dirty="0"/>
          </a:p>
        </p:txBody>
      </p:sp>
      <p:sp>
        <p:nvSpPr>
          <p:cNvPr id="71" name="Text 63"/>
          <p:cNvSpPr/>
          <p:nvPr/>
        </p:nvSpPr>
        <p:spPr>
          <a:xfrm>
            <a:off x="25712928" y="1717243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7A3C"/>
                </a:solidFill>
              </a:rPr>
              <a:t>✅</a:t>
            </a:r>
            <a:endParaRPr lang="en-US" sz="2800" dirty="0"/>
          </a:p>
        </p:txBody>
      </p:sp>
      <p:sp>
        <p:nvSpPr>
          <p:cNvPr id="72" name="Text 64"/>
          <p:cNvSpPr/>
          <p:nvPr/>
        </p:nvSpPr>
        <p:spPr>
          <a:xfrm>
            <a:off x="26261568" y="17172432"/>
            <a:ext cx="10927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A202C"/>
                </a:solidFill>
              </a:rPr>
              <a:t>SA: 99% success on 4×4 (64 vars) but 6%/0%/0% on 9×9 Easy/Medium/Hard — a 14× variable-density increase collapses classical performance.</a:t>
            </a:r>
            <a:endParaRPr lang="en-US" sz="2100" dirty="0"/>
          </a:p>
        </p:txBody>
      </p:sp>
      <p:sp>
        <p:nvSpPr>
          <p:cNvPr id="73" name="Text 65"/>
          <p:cNvSpPr/>
          <p:nvPr/>
        </p:nvSpPr>
        <p:spPr>
          <a:xfrm>
            <a:off x="25712928" y="183062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77A8"/>
                </a:solidFill>
              </a:rPr>
              <a:t>⚡</a:t>
            </a:r>
            <a:endParaRPr lang="en-US" sz="2800" dirty="0"/>
          </a:p>
        </p:txBody>
      </p:sp>
      <p:sp>
        <p:nvSpPr>
          <p:cNvPr id="74" name="Text 66"/>
          <p:cNvSpPr/>
          <p:nvPr/>
        </p:nvSpPr>
        <p:spPr>
          <a:xfrm>
            <a:off x="26261568" y="18306288"/>
            <a:ext cx="10927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A202C"/>
                </a:solidFill>
              </a:rPr>
              <a:t>Quantum tunneling advantage confirmed: D-Wave Hybrid solved Medium where all 100 SA runs failed, achieving E = 0 on a single attempt.</a:t>
            </a:r>
            <a:endParaRPr lang="en-US" sz="2100" dirty="0"/>
          </a:p>
        </p:txBody>
      </p:sp>
      <p:sp>
        <p:nvSpPr>
          <p:cNvPr id="75" name="Text 67"/>
          <p:cNvSpPr/>
          <p:nvPr/>
        </p:nvSpPr>
        <p:spPr>
          <a:xfrm>
            <a:off x="25712928" y="19440144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77A8"/>
                </a:solidFill>
              </a:rPr>
              <a:t>✔</a:t>
            </a:r>
            <a:endParaRPr lang="en-US" sz="2800" dirty="0"/>
          </a:p>
        </p:txBody>
      </p:sp>
      <p:sp>
        <p:nvSpPr>
          <p:cNvPr id="76" name="Text 68"/>
          <p:cNvSpPr/>
          <p:nvPr/>
        </p:nvSpPr>
        <p:spPr>
          <a:xfrm>
            <a:off x="26261568" y="19440144"/>
            <a:ext cx="10927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A202C"/>
                </a:solidFill>
              </a:rPr>
              <a:t>Advantage2 QPU: 100% on Easy · 99.4% on Medium · 76.1% ± 12.7% on Hard — embedding complexity limits hard instances.</a:t>
            </a:r>
            <a:endParaRPr lang="en-US" sz="2100" dirty="0"/>
          </a:p>
        </p:txBody>
      </p:sp>
      <p:sp>
        <p:nvSpPr>
          <p:cNvPr id="77" name="Text 69"/>
          <p:cNvSpPr/>
          <p:nvPr/>
        </p:nvSpPr>
        <p:spPr>
          <a:xfrm>
            <a:off x="25712928" y="20574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0392B"/>
                </a:solidFill>
              </a:rPr>
              <a:t>⚠</a:t>
            </a:r>
            <a:endParaRPr lang="en-US" sz="2800" dirty="0"/>
          </a:p>
        </p:txBody>
      </p:sp>
      <p:sp>
        <p:nvSpPr>
          <p:cNvPr id="78" name="Text 70"/>
          <p:cNvSpPr/>
          <p:nvPr/>
        </p:nvSpPr>
        <p:spPr>
          <a:xfrm>
            <a:off x="26261568" y="20574000"/>
            <a:ext cx="10927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A202C"/>
                </a:solidFill>
              </a:rPr>
              <a:t>Both solvers failed on 17-clue Sudoku (E = 4): extreme constraint sparsity creates energy landscapes beyond current hardware.</a:t>
            </a:r>
            <a:endParaRPr lang="en-US" sz="2100" dirty="0"/>
          </a:p>
        </p:txBody>
      </p:sp>
      <p:sp>
        <p:nvSpPr>
          <p:cNvPr id="79" name="Text 71"/>
          <p:cNvSpPr/>
          <p:nvPr/>
        </p:nvSpPr>
        <p:spPr>
          <a:xfrm>
            <a:off x="25712928" y="21707856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D4F60"/>
                </a:solidFill>
              </a:rPr>
              <a:t>⏱</a:t>
            </a:r>
            <a:endParaRPr lang="en-US" sz="2800" dirty="0"/>
          </a:p>
        </p:txBody>
      </p:sp>
      <p:sp>
        <p:nvSpPr>
          <p:cNvPr id="80" name="Text 72"/>
          <p:cNvSpPr/>
          <p:nvPr/>
        </p:nvSpPr>
        <p:spPr>
          <a:xfrm>
            <a:off x="26261568" y="21707856"/>
            <a:ext cx="10927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A202C"/>
                </a:solidFill>
              </a:rPr>
              <a:t>Hybrid averaged 1.72s vs. SA’s 1.96s — no quantum overhead penalty at this scale.</a:t>
            </a:r>
            <a:endParaRPr lang="en-US" sz="2100" dirty="0"/>
          </a:p>
        </p:txBody>
      </p:sp>
      <p:sp>
        <p:nvSpPr>
          <p:cNvPr id="81" name="Shape 73"/>
          <p:cNvSpPr/>
          <p:nvPr/>
        </p:nvSpPr>
        <p:spPr>
          <a:xfrm>
            <a:off x="25511760" y="23042880"/>
            <a:ext cx="11887200" cy="8275320"/>
          </a:xfrm>
          <a:prstGeom prst="rect">
            <a:avLst/>
          </a:prstGeom>
          <a:solidFill>
            <a:srgbClr val="E8F4FA"/>
          </a:solidFill>
          <a:ln w="19050">
            <a:solidFill>
              <a:srgbClr val="B8D0E8"/>
            </a:solidFill>
            <a:prstDash val="solid"/>
          </a:ln>
        </p:spPr>
      </p:sp>
      <p:sp>
        <p:nvSpPr>
          <p:cNvPr id="82" name="Shape 74"/>
          <p:cNvSpPr/>
          <p:nvPr/>
        </p:nvSpPr>
        <p:spPr>
          <a:xfrm>
            <a:off x="25511760" y="23042880"/>
            <a:ext cx="11887200" cy="56692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83" name="Text 75"/>
          <p:cNvSpPr/>
          <p:nvPr/>
        </p:nvSpPr>
        <p:spPr>
          <a:xfrm>
            <a:off x="25676352" y="23042880"/>
            <a:ext cx="1170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</a:rPr>
              <a:t>CONCLUSIONS &amp; FUTURE WORK</a:t>
            </a:r>
            <a:endParaRPr lang="en-US" sz="2600" dirty="0"/>
          </a:p>
        </p:txBody>
      </p:sp>
      <p:sp>
        <p:nvSpPr>
          <p:cNvPr id="84" name="Text 76"/>
          <p:cNvSpPr/>
          <p:nvPr/>
        </p:nvSpPr>
        <p:spPr>
          <a:xfrm>
            <a:off x="25694640" y="23756112"/>
            <a:ext cx="11567160" cy="7470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QUBO correctly encodes all four Sudoku constraints; E = 0 guarantees a valid solution.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D-Wave Hybrid BQM Solver solved 2/3 test puzzles vs. SA’s 1/3 — practical quantum advantage demonstrated.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Advantage2 QPU matches SA on easy instances; embedding limits emerge on harder ones.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Given-cell elimination is essential: 37% variable reduction (729→459 vars) on 9×9 Easy.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Execution times are competitive: hybrid 1.72s vs. SA 1.96s — quantum overhead is not a barrier.
</a:t>
            </a:r>
            <a:endParaRPr lang="en-US" sz="22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Future Directions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Penalty weight optimization per constraint type (λ₁…λ₄ tuning)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Domain-wall encoding to further reduce variable count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Direct Advantage QPU access for full 9×9 benchmarks
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• Systematic benchmarking across full puzzle difficulty distributions</a:t>
            </a:r>
            <a:endParaRPr lang="en-US" sz="2200" dirty="0"/>
          </a:p>
        </p:txBody>
      </p:sp>
      <p:sp>
        <p:nvSpPr>
          <p:cNvPr id="85" name="Shape 77"/>
          <p:cNvSpPr/>
          <p:nvPr/>
        </p:nvSpPr>
        <p:spPr>
          <a:xfrm>
            <a:off x="0" y="31455360"/>
            <a:ext cx="38404800" cy="14630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0" y="31455360"/>
            <a:ext cx="384048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7" name="Text 79"/>
          <p:cNvSpPr/>
          <p:nvPr/>
        </p:nvSpPr>
        <p:spPr>
          <a:xfrm>
            <a:off x="548640" y="31546800"/>
            <a:ext cx="3520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B4D8"/>
                </a:solidFill>
              </a:rPr>
              <a:t>Special Thanks:  </a:t>
            </a:r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Prof. Thang Dinh, Dept. of Computer Science, Virginia Commonwealth University — for guidance, resources, and D-Wave hardware access.</a:t>
            </a:r>
            <a:endParaRPr lang="en-US" sz="2600" dirty="0"/>
          </a:p>
        </p:txBody>
      </p:sp>
      <p:pic>
        <p:nvPicPr>
          <p:cNvPr id="88" name="Image 6" descr="figures/vectorized/qr_co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93120" y="3154680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2026-03-27T00:19:48Z</dcterms:created>
  <dcterms:modified xsi:type="dcterms:W3CDTF">2026-03-27T00:19:48Z</dcterms:modified>
</cp:coreProperties>
</file>